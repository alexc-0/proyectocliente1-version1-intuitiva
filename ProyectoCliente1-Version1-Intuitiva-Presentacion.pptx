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 type="screen16x9"/>
  <p:notesSz cx="6858000" cy="9144000"/>
  <p:defaultTextStyle>
    <a:defPPr>
      <a:defRPr lang="es-ES"/>
    </a:defPPr>
  </p:defaultTextStyle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theme" Target="theme/theme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Img1" Type="http://schemas.openxmlformats.org/officeDocument/2006/relationships/image" Target="../media/image1.png"/></Relationships>
</file>

<file path=ppt/slides/_rels/slide2.xml.rels><?xml version="1.0" encoding="UTF-8" standalone="yes"?><Relationships xmlns="http://schemas.openxmlformats.org/package/2006/relationships"/>
</file>

<file path=ppt/slides/_rels/slide3.xml.rels><?xml version="1.0" encoding="UTF-8" standalone="yes"?><Relationships xmlns="http://schemas.openxmlformats.org/package/2006/relationships"/>
</file>

<file path=ppt/slides/_rels/slide4.xml.rels><?xml version="1.0" encoding="UTF-8" standalone="yes"?><Relationships xmlns="http://schemas.openxmlformats.org/package/2006/relationships"/>
</file>

<file path=ppt/slides/_rels/slide5.xml.rels><?xml version="1.0" encoding="UTF-8" standalone="yes"?><Relationships xmlns="http://schemas.openxmlformats.org/package/2006/relationships"><Relationship Id="rIdImg1" Type="http://schemas.openxmlformats.org/officeDocument/2006/relationships/image" Target="../media/image1.png"/></Relationships>
</file>

<file path=ppt/slides/_rels/slide6.xml.rels><?xml version="1.0" encoding="UTF-8" standalone="yes"?><Relationships xmlns="http://schemas.openxmlformats.org/package/2006/relationships"/>
</file>

<file path=ppt/slides/_rels/slide7.xml.rels><?xml version="1.0" encoding="UTF-8" standalone="yes"?><Relationships xmlns="http://schemas.openxmlformats.org/package/2006/relationships"/>
</file>

<file path=ppt/slides/_rels/slide8.xml.rels><?xml version="1.0" encoding="UTF-8" standalone="yes"?><Relationships xmlns="http://schemas.openxmlformats.org/package/2006/relationships"/>
</file>

<file path=ppt/slides/_rels/slide9.xml.rels><?xml version="1.0" encoding="UTF-8" standalone="yes"?><Relationships xmlns="http://schemas.openxmlformats.org/package/2006/relationships"/>
</file>

<file path=ppt/slides/_rels/slide10.xml.rels><?xml version="1.0" encoding="UTF-8" standalone="yes"?><Relationships xmlns="http://schemas.openxmlformats.org/package/2006/relationships"/>
</file>

<file path=ppt/slides/_rels/slide11.xml.rels><?xml version="1.0" encoding="UTF-8" standalone="yes"?><Relationships xmlns="http://schemas.openxmlformats.org/package/2006/relationships"/>
</file>

<file path=ppt/slides/_rels/slide12.xml.rels><?xml version="1.0" encoding="UTF-8" standalone="yes"?><Relationships xmlns="http://schemas.openxmlformats.org/package/2006/relationships"/>
</file>

<file path=ppt/slides/_rels/slide13.xml.rels><?xml version="1.0" encoding="UTF-8" standalone="yes"?><Relationships xmlns="http://schemas.openxmlformats.org/package/2006/relationships"/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bg>
    <p:bgPr>
      <a:solidFill>
        <a:srgbClr val="F7FDFF"/>
      </a:solidFill>
      <a:effectLst/>
    </p:bgPr>
  </p:bg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Shape 100"/>
          <p:cNvSpPr/>
          <p:nvPr/>
        </p:nvSpPr>
        <p:spPr>
          <a:xfrm>
            <a:off x="-548640" y="640080"/>
            <a:ext cx="4297680" cy="5852160"/>
          </a:xfrm>
          <a:prstGeom prst="roundRect">
            <a:avLst/>
          </a:prstGeom>
          <a:solidFill>
            <a:srgbClr val="DDF6FD"/>
          </a:solidFill>
          <a:ln>
            <a:noFill/>
          </a:ln>
        </p:spPr>
      </p:sp>
      <p:sp>
        <p:nvSpPr>
          <p:cNvPr id="101" name="Shape 101"/>
          <p:cNvSpPr/>
          <p:nvPr/>
        </p:nvSpPr>
        <p:spPr>
          <a:xfrm>
            <a:off x="8229600" y="-182880"/>
            <a:ext cx="4480560" cy="7223760"/>
          </a:xfrm>
          <a:prstGeom prst="roundRect">
            <a:avLst/>
          </a:prstGeom>
          <a:solidFill>
            <a:srgbClr val="D5F4FB"/>
          </a:solidFill>
          <a:ln>
            <a:noFill/>
          </a:ln>
        </p:spPr>
      </p:sp>
      <p:sp>
        <p:nvSpPr>
          <p:cNvPr id="2" name="Shape 2"/>
          <p:cNvSpPr/>
          <p:nvPr/>
        </p:nvSpPr>
        <p:spPr>
          <a:xfrm>
            <a:off x="0" y="0"/>
            <a:ext cx="12192000" cy="329184"/>
          </a:xfrm>
          <a:prstGeom prst="rect">
            <a:avLst/>
          </a:prstGeom>
          <a:solidFill>
            <a:srgbClr val="0B5475"/>
          </a:solidFill>
          <a:ln>
            <a:noFill/>
          </a:ln>
        </p:spPr>
      </p:sp>
      <p:sp>
        <p:nvSpPr>
          <p:cNvPr id="3" name="Shape 3"/>
          <p:cNvSpPr/>
          <p:nvPr/>
        </p:nvSpPr>
        <p:spPr>
          <a:xfrm>
            <a:off x="9464040" y="0"/>
            <a:ext cx="2724912" cy="329184"/>
          </a:xfrm>
          <a:prstGeom prst="rect">
            <a:avLst/>
          </a:prstGeom>
          <a:solidFill>
            <a:srgbClr val="2EC6D8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02920" y="210312"/>
            <a:ext cx="5303520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s-ES" sz="1150" b="1">
                <a:solidFill>
                  <a:srgbClr val="1488B8"/>
                </a:solidFill>
                <a:latin typeface="Aptos"/>
                <a:cs typeface="Aptos"/>
              </a:rPr>
              <a:t>ProyectoCliente1 | Version 1 Intuitiva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1119104" y="210312"/>
            <a:ext cx="45720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r"/>
            <a:r>
              <a:rPr lang="es-ES" sz="1050" b="1">
                <a:solidFill>
                  <a:srgbClr val="4E7F99"/>
                </a:solidFill>
                <a:latin typeface="Aptos"/>
                <a:cs typeface="Aptos"/>
              </a:rPr>
              <a:t>01</a:t>
            </a:r>
          </a:p>
        </p:txBody>
      </p:sp>
      <p:sp>
        <p:nvSpPr>
          <p:cNvPr id="10" name="Shape 10"/>
          <p:cNvSpPr/>
          <p:nvPr/>
        </p:nvSpPr>
        <p:spPr>
          <a:xfrm>
            <a:off x="530352" y="713232"/>
            <a:ext cx="914400" cy="603504"/>
          </a:xfrm>
          <a:prstGeom prst="roundRect">
            <a:avLst/>
          </a:prstGeom>
          <a:solidFill>
            <a:srgbClr val="2EC6D8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713232" y="868680"/>
            <a:ext cx="50292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"/>
            <a:r>
              <a:rPr lang="es-ES" sz="1900" b="1">
                <a:solidFill>
                  <a:srgbClr val="FFFFFF"/>
                </a:solidFill>
                <a:latin typeface="Aptos"/>
                <a:cs typeface="Aptos"/>
              </a:rPr>
              <a:t>P1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594360" y="1691640"/>
            <a:ext cx="5120640" cy="178308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s-ES" sz="3700" b="1">
                <a:solidFill>
                  <a:srgbClr val="05304A"/>
                </a:solidFill>
                <a:latin typeface="Aptos"/>
                <a:cs typeface="Aptos"/>
              </a:rPr>
              <a:t>Una web directa para entender, orientar y convertir antes.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621792" y="3657600"/>
            <a:ext cx="4663440" cy="6858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s-ES" sz="1750">
                <a:solidFill>
                  <a:srgbClr val="4E7F99"/>
                </a:solidFill>
                <a:latin typeface="Aptos"/>
                <a:cs typeface="Aptos"/>
              </a:rPr>
              <a:t>Prototipo local enfocado a reducir friccion, ordenar contenido tecnico y guiar al usuario hacia una consulta util.</a:t>
            </a:r>
          </a:p>
        </p:txBody>
      </p:sp>
      <p:sp>
        <p:nvSpPr>
          <p:cNvPr id="14" name="Shape 14"/>
          <p:cNvSpPr/>
          <p:nvPr/>
        </p:nvSpPr>
        <p:spPr>
          <a:xfrm>
            <a:off x="621792" y="4617720"/>
            <a:ext cx="1645920" cy="329184"/>
          </a:xfrm>
          <a:prstGeom prst="roundRect">
            <a:avLst/>
          </a:prstGeom>
          <a:solidFill>
            <a:srgbClr val="0B5475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621792" y="4700016"/>
            <a:ext cx="164592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"/>
            <a:r>
              <a:rPr lang="es-ES" sz="900" b="1">
                <a:solidFill>
                  <a:srgbClr val="FFFFFF"/>
                </a:solidFill>
                <a:latin typeface="Aptos"/>
                <a:cs typeface="Aptos"/>
              </a:rPr>
              <a:t>UX intuitiva</a:t>
            </a:r>
          </a:p>
        </p:txBody>
      </p:sp>
      <p:sp>
        <p:nvSpPr>
          <p:cNvPr id="16" name="Shape 16"/>
          <p:cNvSpPr/>
          <p:nvPr/>
        </p:nvSpPr>
        <p:spPr>
          <a:xfrm>
            <a:off x="2432304" y="4617720"/>
            <a:ext cx="1645920" cy="329184"/>
          </a:xfrm>
          <a:prstGeom prst="roundRect">
            <a:avLst/>
          </a:prstGeom>
          <a:solidFill>
            <a:srgbClr val="0B5475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2432304" y="4700016"/>
            <a:ext cx="164592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"/>
            <a:r>
              <a:rPr lang="es-ES" sz="900" b="1">
                <a:solidFill>
                  <a:srgbClr val="FFFFFF"/>
                </a:solidFill>
                <a:latin typeface="Aptos"/>
                <a:cs typeface="Aptos"/>
              </a:rPr>
              <a:t>Navegacion guiada</a:t>
            </a:r>
          </a:p>
        </p:txBody>
      </p:sp>
      <p:sp>
        <p:nvSpPr>
          <p:cNvPr id="18" name="Shape 18"/>
          <p:cNvSpPr/>
          <p:nvPr/>
        </p:nvSpPr>
        <p:spPr>
          <a:xfrm>
            <a:off x="4242816" y="4617720"/>
            <a:ext cx="1645920" cy="329184"/>
          </a:xfrm>
          <a:prstGeom prst="roundRect">
            <a:avLst/>
          </a:prstGeom>
          <a:solidFill>
            <a:srgbClr val="0B5475"/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4242816" y="4700016"/>
            <a:ext cx="164592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"/>
            <a:r>
              <a:rPr lang="es-ES" sz="900" b="1">
                <a:solidFill>
                  <a:srgbClr val="FFFFFF"/>
                </a:solidFill>
                <a:latin typeface="Aptos"/>
                <a:cs typeface="Aptos"/>
              </a:rPr>
              <a:t>Producto sin saturacion</a:t>
            </a:r>
          </a:p>
        </p:txBody>
      </p:sp>
      <p:pic>
        <p:nvPicPr>
          <p:cNvPr id="20" name="Screenshot"/>
          <p:cNvPicPr>
            <a:picLocks noChangeAspect="1"/>
          </p:cNvPicPr>
          <p:nvPr/>
        </p:nvPicPr>
        <p:blipFill>
          <a:blip r:embed="rIdImg1"/>
          <a:stretch>
            <a:fillRect/>
          </a:stretch>
        </p:blipFill>
        <p:spPr>
          <a:xfrm>
            <a:off x="5577840" y="1078992"/>
            <a:ext cx="5989320" cy="4005072"/>
          </a:xfrm>
          <a:prstGeom prst="rect">
            <a:avLst/>
          </a:prstGeom>
          <a:ln w="12700">
            <a:solidFill>
              <a:srgbClr val="BCE8F4"/>
            </a:solidFill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bg>
    <p:bgPr>
      <a:solidFill>
        <a:srgbClr val="F7FDFF"/>
      </a:solidFill>
      <a:effectLst/>
    </p:bgPr>
  </p:bg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Shape 100"/>
          <p:cNvSpPr/>
          <p:nvPr/>
        </p:nvSpPr>
        <p:spPr>
          <a:xfrm>
            <a:off x="-548640" y="640080"/>
            <a:ext cx="4297680" cy="5852160"/>
          </a:xfrm>
          <a:prstGeom prst="roundRect">
            <a:avLst/>
          </a:prstGeom>
          <a:solidFill>
            <a:srgbClr val="DDF6FD"/>
          </a:solidFill>
          <a:ln>
            <a:noFill/>
          </a:ln>
        </p:spPr>
      </p:sp>
      <p:sp>
        <p:nvSpPr>
          <p:cNvPr id="101" name="Shape 101"/>
          <p:cNvSpPr/>
          <p:nvPr/>
        </p:nvSpPr>
        <p:spPr>
          <a:xfrm>
            <a:off x="8229600" y="-182880"/>
            <a:ext cx="4480560" cy="7223760"/>
          </a:xfrm>
          <a:prstGeom prst="roundRect">
            <a:avLst/>
          </a:prstGeom>
          <a:solidFill>
            <a:srgbClr val="D5F4FB"/>
          </a:solidFill>
          <a:ln>
            <a:noFill/>
          </a:ln>
        </p:spPr>
      </p:sp>
      <p:sp>
        <p:nvSpPr>
          <p:cNvPr id="2" name="Shape 2"/>
          <p:cNvSpPr/>
          <p:nvPr/>
        </p:nvSpPr>
        <p:spPr>
          <a:xfrm>
            <a:off x="0" y="0"/>
            <a:ext cx="12192000" cy="329184"/>
          </a:xfrm>
          <a:prstGeom prst="rect">
            <a:avLst/>
          </a:prstGeom>
          <a:solidFill>
            <a:srgbClr val="0B5475"/>
          </a:solidFill>
          <a:ln>
            <a:noFill/>
          </a:ln>
        </p:spPr>
      </p:sp>
      <p:sp>
        <p:nvSpPr>
          <p:cNvPr id="3" name="Shape 3"/>
          <p:cNvSpPr/>
          <p:nvPr/>
        </p:nvSpPr>
        <p:spPr>
          <a:xfrm>
            <a:off x="9464040" y="0"/>
            <a:ext cx="2724912" cy="329184"/>
          </a:xfrm>
          <a:prstGeom prst="rect">
            <a:avLst/>
          </a:prstGeom>
          <a:solidFill>
            <a:srgbClr val="2EC6D8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02920" y="210312"/>
            <a:ext cx="5303520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s-ES" sz="1150" b="1">
                <a:solidFill>
                  <a:srgbClr val="1488B8"/>
                </a:solidFill>
                <a:latin typeface="Aptos"/>
                <a:cs typeface="Aptos"/>
              </a:rPr>
              <a:t>Punto de partida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1119104" y="210312"/>
            <a:ext cx="45720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r"/>
            <a:r>
              <a:rPr lang="es-ES" sz="1050" b="1">
                <a:solidFill>
                  <a:srgbClr val="4E7F99"/>
                </a:solidFill>
                <a:latin typeface="Aptos"/>
                <a:cs typeface="Aptos"/>
              </a:rPr>
              <a:t>02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85800" y="914400"/>
            <a:ext cx="7863840" cy="105156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s-ES" sz="3000" b="1">
                <a:solidFill>
                  <a:srgbClr val="05304A"/>
                </a:solidFill>
                <a:latin typeface="Aptos"/>
                <a:cs typeface="Aptos"/>
              </a:rPr>
              <a:t>La web original ya contiene materia prima valiosa, pero pide una entrada mas clara.</a:t>
            </a:r>
          </a:p>
        </p:txBody>
      </p:sp>
      <p:sp>
        <p:nvSpPr>
          <p:cNvPr id="11" name="Shape 11"/>
          <p:cNvSpPr/>
          <p:nvPr/>
        </p:nvSpPr>
        <p:spPr>
          <a:xfrm>
            <a:off x="713232" y="2148840"/>
            <a:ext cx="109728" cy="3063240"/>
          </a:xfrm>
          <a:prstGeom prst="rect">
            <a:avLst/>
          </a:prstGeom>
          <a:solidFill>
            <a:srgbClr val="2EC6D8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1005840" y="2057400"/>
            <a:ext cx="9509760" cy="347472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lnSpc>
                <a:spcPct val="115000"/>
              </a:lnSpc>
            </a:pPr>
            <a:r>
              <a:rPr lang="es-ES" sz="1680">
                <a:solidFill>
                  <a:srgbClr val="05304A"/>
                </a:solidFill>
                <a:latin typeface="Aptos"/>
                <a:cs typeface="Aptos"/>
              </a:rPr>
              <a:t>? La base tecnica existe: aplicaciones, productos, BMS, documentacion y contacto.</a:t>
            </a:r>
          </a:p>
          <a:p>
            <a:pPr algn="l">
              <a:lnSpc>
                <a:spcPct val="115000"/>
              </a:lnSpc>
            </a:pPr>
            <a:r>
              <a:rPr lang="es-ES" sz="1680">
                <a:solidFill>
                  <a:srgbClr val="05304A"/>
                </a:solidFill>
                <a:latin typeface="Aptos"/>
                <a:cs typeface="Aptos"/>
              </a:rPr>
              <a:t>? El recorrido puede sentirse denso para usuarios que no dominan la parte tecnica.</a:t>
            </a:r>
          </a:p>
          <a:p>
            <a:pPr algn="l">
              <a:lnSpc>
                <a:spcPct val="115000"/>
              </a:lnSpc>
            </a:pPr>
            <a:r>
              <a:rPr lang="es-ES" sz="1680">
                <a:solidFill>
                  <a:srgbClr val="05304A"/>
                </a:solidFill>
                <a:latin typeface="Aptos"/>
                <a:cs typeface="Aptos"/>
              </a:rPr>
              <a:t>? El producto tiene peso, pero conviene dosificar especificaciones y priorizar decision rapida.</a:t>
            </a:r>
          </a:p>
          <a:p>
            <a:pPr algn="l">
              <a:lnSpc>
                <a:spcPct val="115000"/>
              </a:lnSpc>
            </a:pPr>
            <a:r>
              <a:rPr lang="es-ES" sz="1680">
                <a:solidFill>
                  <a:srgbClr val="05304A"/>
                </a:solidFill>
                <a:latin typeface="Aptos"/>
                <a:cs typeface="Aptos"/>
              </a:rPr>
              <a:t>? La oportunidad de la V1 es convertir esa materia prima en una experiencia mas inmediata.</a:t>
            </a:r>
          </a:p>
        </p:txBody>
      </p:sp>
      <p:sp>
        <p:nvSpPr>
          <p:cNvPr id="13" name="Shape 13"/>
          <p:cNvSpPr/>
          <p:nvPr/>
        </p:nvSpPr>
        <p:spPr>
          <a:xfrm>
            <a:off x="9006840" y="5230368"/>
            <a:ext cx="1828800" cy="411480"/>
          </a:xfrm>
          <a:prstGeom prst="roundRect">
            <a:avLst/>
          </a:prstGeom>
          <a:solidFill>
            <a:srgbClr val="0B5475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9125712" y="5340096"/>
            <a:ext cx="1591056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"/>
            <a:r>
              <a:rPr lang="es-ES" sz="950" b="1">
                <a:solidFill>
                  <a:srgbClr val="FFFFFF"/>
                </a:solidFill>
                <a:latin typeface="Aptos"/>
                <a:cs typeface="Aptos"/>
              </a:rPr>
              <a:t>Version intuitiva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bg>
    <p:bgPr>
      <a:solidFill>
        <a:srgbClr val="F7FDFF"/>
      </a:solidFill>
      <a:effectLst/>
    </p:bgPr>
  </p:bg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Shape 100"/>
          <p:cNvSpPr/>
          <p:nvPr/>
        </p:nvSpPr>
        <p:spPr>
          <a:xfrm>
            <a:off x="-548640" y="640080"/>
            <a:ext cx="4297680" cy="5852160"/>
          </a:xfrm>
          <a:prstGeom prst="roundRect">
            <a:avLst/>
          </a:prstGeom>
          <a:solidFill>
            <a:srgbClr val="DDF6FD"/>
          </a:solidFill>
          <a:ln>
            <a:noFill/>
          </a:ln>
        </p:spPr>
      </p:sp>
      <p:sp>
        <p:nvSpPr>
          <p:cNvPr id="101" name="Shape 101"/>
          <p:cNvSpPr/>
          <p:nvPr/>
        </p:nvSpPr>
        <p:spPr>
          <a:xfrm>
            <a:off x="8229600" y="-182880"/>
            <a:ext cx="4480560" cy="7223760"/>
          </a:xfrm>
          <a:prstGeom prst="roundRect">
            <a:avLst/>
          </a:prstGeom>
          <a:solidFill>
            <a:srgbClr val="D5F4FB"/>
          </a:solidFill>
          <a:ln>
            <a:noFill/>
          </a:ln>
        </p:spPr>
      </p:sp>
      <p:sp>
        <p:nvSpPr>
          <p:cNvPr id="2" name="Shape 2"/>
          <p:cNvSpPr/>
          <p:nvPr/>
        </p:nvSpPr>
        <p:spPr>
          <a:xfrm>
            <a:off x="0" y="0"/>
            <a:ext cx="12192000" cy="329184"/>
          </a:xfrm>
          <a:prstGeom prst="rect">
            <a:avLst/>
          </a:prstGeom>
          <a:solidFill>
            <a:srgbClr val="0B5475"/>
          </a:solidFill>
          <a:ln>
            <a:noFill/>
          </a:ln>
        </p:spPr>
      </p:sp>
      <p:sp>
        <p:nvSpPr>
          <p:cNvPr id="3" name="Shape 3"/>
          <p:cNvSpPr/>
          <p:nvPr/>
        </p:nvSpPr>
        <p:spPr>
          <a:xfrm>
            <a:off x="9464040" y="0"/>
            <a:ext cx="2724912" cy="329184"/>
          </a:xfrm>
          <a:prstGeom prst="rect">
            <a:avLst/>
          </a:prstGeom>
          <a:solidFill>
            <a:srgbClr val="2EC6D8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02920" y="210312"/>
            <a:ext cx="5303520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s-ES" sz="1150" b="1">
                <a:solidFill>
                  <a:srgbClr val="1488B8"/>
                </a:solidFill>
                <a:latin typeface="Aptos"/>
                <a:cs typeface="Aptos"/>
              </a:rPr>
              <a:t>Intencion de esta version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1119104" y="210312"/>
            <a:ext cx="45720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r"/>
            <a:r>
              <a:rPr lang="es-ES" sz="1050" b="1">
                <a:solidFill>
                  <a:srgbClr val="4E7F99"/>
                </a:solidFill>
                <a:latin typeface="Aptos"/>
                <a:cs typeface="Aptos"/>
              </a:rPr>
              <a:t>03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85800" y="914400"/>
            <a:ext cx="7863840" cy="105156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s-ES" sz="3000" b="1">
                <a:solidFill>
                  <a:srgbClr val="05304A"/>
                </a:solidFill>
                <a:latin typeface="Aptos"/>
                <a:cs typeface="Aptos"/>
              </a:rPr>
              <a:t>V1 no intenta impresionar por complejidad: intenta que cualquiera avance sin perderse.</a:t>
            </a:r>
          </a:p>
        </p:txBody>
      </p:sp>
      <p:sp>
        <p:nvSpPr>
          <p:cNvPr id="11" name="Shape 11"/>
          <p:cNvSpPr/>
          <p:nvPr/>
        </p:nvSpPr>
        <p:spPr>
          <a:xfrm>
            <a:off x="713232" y="2148840"/>
            <a:ext cx="109728" cy="3063240"/>
          </a:xfrm>
          <a:prstGeom prst="rect">
            <a:avLst/>
          </a:prstGeom>
          <a:solidFill>
            <a:srgbClr val="2EC6D8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1005840" y="2057400"/>
            <a:ext cx="9509760" cy="347472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lnSpc>
                <a:spcPct val="115000"/>
              </a:lnSpc>
            </a:pPr>
            <a:r>
              <a:rPr lang="es-ES" sz="1680">
                <a:solidFill>
                  <a:srgbClr val="05304A"/>
                </a:solidFill>
                <a:latin typeface="Aptos"/>
                <a:cs typeface="Aptos"/>
              </a:rPr>
              <a:t>? Primer impacto claro: que se entienda de que va la solucion en segundos.</a:t>
            </a:r>
          </a:p>
          <a:p>
            <a:pPr algn="l">
              <a:lnSpc>
                <a:spcPct val="115000"/>
              </a:lnSpc>
            </a:pPr>
            <a:r>
              <a:rPr lang="es-ES" sz="1680">
                <a:solidFill>
                  <a:srgbClr val="05304A"/>
                </a:solidFill>
                <a:latin typeface="Aptos"/>
                <a:cs typeface="Aptos"/>
              </a:rPr>
              <a:t>? Ruta guiada: tres decisiones basicas antes de pedir informacion al usuario.</a:t>
            </a:r>
          </a:p>
          <a:p>
            <a:pPr algn="l">
              <a:lnSpc>
                <a:spcPct val="115000"/>
              </a:lnSpc>
            </a:pPr>
            <a:r>
              <a:rPr lang="es-ES" sz="1680">
                <a:solidFill>
                  <a:srgbClr val="05304A"/>
                </a:solidFill>
                <a:latin typeface="Aptos"/>
                <a:cs typeface="Aptos"/>
              </a:rPr>
              <a:t>? Secciones compactas: menos texto visible, mas jerarquia y mejor respiracion visual.</a:t>
            </a:r>
          </a:p>
          <a:p>
            <a:pPr algn="l">
              <a:lnSpc>
                <a:spcPct val="115000"/>
              </a:lnSpc>
            </a:pPr>
            <a:r>
              <a:rPr lang="es-ES" sz="1680">
                <a:solidFill>
                  <a:srgbClr val="05304A"/>
                </a:solidFill>
                <a:latin typeface="Aptos"/>
                <a:cs typeface="Aptos"/>
              </a:rPr>
              <a:t>? Azules protagonistas, negros y grises como apoyo, no como estructura dominante.</a:t>
            </a:r>
          </a:p>
        </p:txBody>
      </p:sp>
      <p:sp>
        <p:nvSpPr>
          <p:cNvPr id="13" name="Shape 13"/>
          <p:cNvSpPr/>
          <p:nvPr/>
        </p:nvSpPr>
        <p:spPr>
          <a:xfrm>
            <a:off x="9006840" y="5230368"/>
            <a:ext cx="1828800" cy="411480"/>
          </a:xfrm>
          <a:prstGeom prst="roundRect">
            <a:avLst/>
          </a:prstGeom>
          <a:solidFill>
            <a:srgbClr val="0B5475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9125712" y="5340096"/>
            <a:ext cx="1591056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"/>
            <a:r>
              <a:rPr lang="es-ES" sz="950" b="1">
                <a:solidFill>
                  <a:srgbClr val="FFFFFF"/>
                </a:solidFill>
                <a:latin typeface="Aptos"/>
                <a:cs typeface="Aptos"/>
              </a:rPr>
              <a:t>Version intuitiva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bg>
    <p:bgPr>
      <a:solidFill>
        <a:srgbClr val="F7FDFF"/>
      </a:solidFill>
      <a:effectLst/>
    </p:bgPr>
  </p:bg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Shape 100"/>
          <p:cNvSpPr/>
          <p:nvPr/>
        </p:nvSpPr>
        <p:spPr>
          <a:xfrm>
            <a:off x="-548640" y="640080"/>
            <a:ext cx="4297680" cy="5852160"/>
          </a:xfrm>
          <a:prstGeom prst="roundRect">
            <a:avLst/>
          </a:prstGeom>
          <a:solidFill>
            <a:srgbClr val="DDF6FD"/>
          </a:solidFill>
          <a:ln>
            <a:noFill/>
          </a:ln>
        </p:spPr>
      </p:sp>
      <p:sp>
        <p:nvSpPr>
          <p:cNvPr id="101" name="Shape 101"/>
          <p:cNvSpPr/>
          <p:nvPr/>
        </p:nvSpPr>
        <p:spPr>
          <a:xfrm>
            <a:off x="8229600" y="-182880"/>
            <a:ext cx="4480560" cy="7223760"/>
          </a:xfrm>
          <a:prstGeom prst="roundRect">
            <a:avLst/>
          </a:prstGeom>
          <a:solidFill>
            <a:srgbClr val="D5F4FB"/>
          </a:solidFill>
          <a:ln>
            <a:noFill/>
          </a:ln>
        </p:spPr>
      </p:sp>
      <p:sp>
        <p:nvSpPr>
          <p:cNvPr id="2" name="Shape 2"/>
          <p:cNvSpPr/>
          <p:nvPr/>
        </p:nvSpPr>
        <p:spPr>
          <a:xfrm>
            <a:off x="0" y="0"/>
            <a:ext cx="12192000" cy="329184"/>
          </a:xfrm>
          <a:prstGeom prst="rect">
            <a:avLst/>
          </a:prstGeom>
          <a:solidFill>
            <a:srgbClr val="0B5475"/>
          </a:solidFill>
          <a:ln>
            <a:noFill/>
          </a:ln>
        </p:spPr>
      </p:sp>
      <p:sp>
        <p:nvSpPr>
          <p:cNvPr id="3" name="Shape 3"/>
          <p:cNvSpPr/>
          <p:nvPr/>
        </p:nvSpPr>
        <p:spPr>
          <a:xfrm>
            <a:off x="9464040" y="0"/>
            <a:ext cx="2724912" cy="329184"/>
          </a:xfrm>
          <a:prstGeom prst="rect">
            <a:avLst/>
          </a:prstGeom>
          <a:solidFill>
            <a:srgbClr val="2EC6D8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02920" y="210312"/>
            <a:ext cx="5303520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s-ES" sz="1150" b="1">
                <a:solidFill>
                  <a:srgbClr val="1488B8"/>
                </a:solidFill>
                <a:latin typeface="Aptos"/>
                <a:cs typeface="Aptos"/>
              </a:rPr>
              <a:t>Mejoras frente a la estructura original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1119104" y="210312"/>
            <a:ext cx="45720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r"/>
            <a:r>
              <a:rPr lang="es-ES" sz="1050" b="1">
                <a:solidFill>
                  <a:srgbClr val="4E7F99"/>
                </a:solidFill>
                <a:latin typeface="Aptos"/>
                <a:cs typeface="Aptos"/>
              </a:rPr>
              <a:t>04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85800" y="914400"/>
            <a:ext cx="7589520" cy="914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s-ES" sz="3000" b="1">
                <a:solidFill>
                  <a:srgbClr val="05304A"/>
                </a:solidFill>
                <a:latin typeface="Aptos"/>
                <a:cs typeface="Aptos"/>
              </a:rPr>
              <a:t>De lectura tecnica a recorrido asistido.</a:t>
            </a:r>
          </a:p>
        </p:txBody>
      </p:sp>
      <p:sp>
        <p:nvSpPr>
          <p:cNvPr id="11" name="Shape 11"/>
          <p:cNvSpPr/>
          <p:nvPr/>
        </p:nvSpPr>
        <p:spPr>
          <a:xfrm>
            <a:off x="685800" y="2148840"/>
            <a:ext cx="3429000" cy="1234440"/>
          </a:xfrm>
          <a:prstGeom prst="roundRect">
            <a:avLst/>
          </a:prstGeom>
          <a:solidFill>
            <a:srgbClr val="0B5475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886968" y="2313432"/>
            <a:ext cx="3026664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s-ES" sz="1450" b="1">
                <a:solidFill>
                  <a:srgbClr val="FFFFFF"/>
                </a:solidFill>
                <a:latin typeface="Aptos"/>
                <a:cs typeface="Aptos"/>
              </a:rPr>
              <a:t>Antes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86968" y="2651760"/>
            <a:ext cx="3026664" cy="530352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s-ES" sz="1050">
                <a:solidFill>
                  <a:srgbClr val="FFFFFF"/>
                </a:solidFill>
                <a:latin typeface="Aptos"/>
                <a:cs typeface="Aptos"/>
              </a:rPr>
              <a:t>Mas peso en navegacion informativa y secciones tecnicas.</a:t>
            </a:r>
          </a:p>
        </p:txBody>
      </p:sp>
      <p:sp>
        <p:nvSpPr>
          <p:cNvPr id="14" name="Shape 14"/>
          <p:cNvSpPr/>
          <p:nvPr/>
        </p:nvSpPr>
        <p:spPr>
          <a:xfrm>
            <a:off x="4407408" y="2148840"/>
            <a:ext cx="3429000" cy="1234440"/>
          </a:xfrm>
          <a:prstGeom prst="roundRect">
            <a:avLst/>
          </a:prstGeom>
          <a:solidFill>
            <a:srgbClr val="1488B8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4608576" y="2313432"/>
            <a:ext cx="3026664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s-ES" sz="1450" b="1">
                <a:solidFill>
                  <a:srgbClr val="FFFFFF"/>
                </a:solidFill>
                <a:latin typeface="Aptos"/>
                <a:cs typeface="Aptos"/>
              </a:rPr>
              <a:t>Ahora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4608576" y="2651760"/>
            <a:ext cx="3026664" cy="530352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s-ES" sz="1050">
                <a:solidFill>
                  <a:srgbClr val="FFFFFF"/>
                </a:solidFill>
                <a:latin typeface="Aptos"/>
                <a:cs typeface="Aptos"/>
              </a:rPr>
              <a:t>Entrada por orientacion, aplicacion, fase e interes.</a:t>
            </a:r>
          </a:p>
        </p:txBody>
      </p:sp>
      <p:sp>
        <p:nvSpPr>
          <p:cNvPr id="17" name="Shape 17"/>
          <p:cNvSpPr/>
          <p:nvPr/>
        </p:nvSpPr>
        <p:spPr>
          <a:xfrm>
            <a:off x="8119872" y="2148840"/>
            <a:ext cx="3429000" cy="1234440"/>
          </a:xfrm>
          <a:prstGeom prst="roundRect">
            <a:avLst/>
          </a:prstGeom>
          <a:solidFill>
            <a:srgbClr val="0B5475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8321040" y="2313432"/>
            <a:ext cx="3026664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s-ES" sz="1450" b="1">
                <a:solidFill>
                  <a:srgbClr val="FFFFFF"/>
                </a:solidFill>
                <a:latin typeface="Aptos"/>
                <a:cs typeface="Aptos"/>
              </a:rPr>
              <a:t>Antes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8321040" y="2651760"/>
            <a:ext cx="3026664" cy="530352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s-ES" sz="1050">
                <a:solidFill>
                  <a:srgbClr val="FFFFFF"/>
                </a:solidFill>
                <a:latin typeface="Aptos"/>
                <a:cs typeface="Aptos"/>
              </a:rPr>
              <a:t>Producto y contenido tecnico compiten por espacio.</a:t>
            </a:r>
          </a:p>
        </p:txBody>
      </p:sp>
      <p:sp>
        <p:nvSpPr>
          <p:cNvPr id="20" name="Shape 20"/>
          <p:cNvSpPr/>
          <p:nvPr/>
        </p:nvSpPr>
        <p:spPr>
          <a:xfrm>
            <a:off x="685800" y="3657600"/>
            <a:ext cx="3429000" cy="1234440"/>
          </a:xfrm>
          <a:prstGeom prst="roundRect">
            <a:avLst/>
          </a:prstGeom>
          <a:solidFill>
            <a:srgbClr val="1488B8"/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886968" y="3822192"/>
            <a:ext cx="3026664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s-ES" sz="1450" b="1">
                <a:solidFill>
                  <a:srgbClr val="FFFFFF"/>
                </a:solidFill>
                <a:latin typeface="Aptos"/>
                <a:cs typeface="Aptos"/>
              </a:rPr>
              <a:t>Ahora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886968" y="4160520"/>
            <a:ext cx="3026664" cy="530352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s-ES" sz="1050">
                <a:solidFill>
                  <a:srgbClr val="FFFFFF"/>
                </a:solidFill>
                <a:latin typeface="Aptos"/>
                <a:cs typeface="Aptos"/>
              </a:rPr>
              <a:t>Carrusel visual y ficha bajo demanda para evitar saturacion.</a:t>
            </a:r>
          </a:p>
        </p:txBody>
      </p:sp>
      <p:sp>
        <p:nvSpPr>
          <p:cNvPr id="23" name="Shape 23"/>
          <p:cNvSpPr/>
          <p:nvPr/>
        </p:nvSpPr>
        <p:spPr>
          <a:xfrm>
            <a:off x="4407408" y="3657600"/>
            <a:ext cx="3429000" cy="1234440"/>
          </a:xfrm>
          <a:prstGeom prst="roundRect">
            <a:avLst/>
          </a:prstGeom>
          <a:solidFill>
            <a:srgbClr val="0B5475"/>
          </a:solidFill>
          <a:ln>
            <a:noFill/>
          </a:ln>
        </p:spPr>
      </p:sp>
      <p:sp>
        <p:nvSpPr>
          <p:cNvPr id="24" name="TextBox 24"/>
          <p:cNvSpPr txBox="1"/>
          <p:nvPr/>
        </p:nvSpPr>
        <p:spPr>
          <a:xfrm>
            <a:off x="4608576" y="3822192"/>
            <a:ext cx="3026664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s-ES" sz="1450" b="1">
                <a:solidFill>
                  <a:srgbClr val="FFFFFF"/>
                </a:solidFill>
                <a:latin typeface="Aptos"/>
                <a:cs typeface="Aptos"/>
              </a:rPr>
              <a:t>Antes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4608576" y="4160520"/>
            <a:ext cx="3026664" cy="530352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s-ES" sz="1050">
                <a:solidFill>
                  <a:srgbClr val="FFFFFF"/>
                </a:solidFill>
                <a:latin typeface="Aptos"/>
                <a:cs typeface="Aptos"/>
              </a:rPr>
              <a:t>Contacto como destino final.</a:t>
            </a:r>
          </a:p>
        </p:txBody>
      </p:sp>
      <p:sp>
        <p:nvSpPr>
          <p:cNvPr id="26" name="Shape 26"/>
          <p:cNvSpPr/>
          <p:nvPr/>
        </p:nvSpPr>
        <p:spPr>
          <a:xfrm>
            <a:off x="8119872" y="3657600"/>
            <a:ext cx="3429000" cy="1234440"/>
          </a:xfrm>
          <a:prstGeom prst="roundRect">
            <a:avLst/>
          </a:prstGeom>
          <a:solidFill>
            <a:srgbClr val="1488B8"/>
          </a:solidFill>
          <a:ln>
            <a:noFill/>
          </a:ln>
        </p:spPr>
      </p:sp>
      <p:sp>
        <p:nvSpPr>
          <p:cNvPr id="27" name="TextBox 27"/>
          <p:cNvSpPr txBox="1"/>
          <p:nvPr/>
        </p:nvSpPr>
        <p:spPr>
          <a:xfrm>
            <a:off x="8321040" y="3822192"/>
            <a:ext cx="3026664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s-ES" sz="1450" b="1">
                <a:solidFill>
                  <a:srgbClr val="FFFFFF"/>
                </a:solidFill>
                <a:latin typeface="Aptos"/>
                <a:cs typeface="Aptos"/>
              </a:rPr>
              <a:t>Ahora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8321040" y="4160520"/>
            <a:ext cx="3026664" cy="530352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s-ES" sz="1050">
                <a:solidFill>
                  <a:srgbClr val="FFFFFF"/>
                </a:solidFill>
                <a:latin typeface="Aptos"/>
                <a:cs typeface="Aptos"/>
              </a:rPr>
              <a:t>Consulta tecnica preparada con contexto desde la propia navegacion.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bg>
    <p:bgPr>
      <a:solidFill>
        <a:srgbClr val="F7FDFF"/>
      </a:solidFill>
      <a:effectLst/>
    </p:bgPr>
  </p:bg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Shape 100"/>
          <p:cNvSpPr/>
          <p:nvPr/>
        </p:nvSpPr>
        <p:spPr>
          <a:xfrm>
            <a:off x="-548640" y="640080"/>
            <a:ext cx="4297680" cy="5852160"/>
          </a:xfrm>
          <a:prstGeom prst="roundRect">
            <a:avLst/>
          </a:prstGeom>
          <a:solidFill>
            <a:srgbClr val="DDF6FD"/>
          </a:solidFill>
          <a:ln>
            <a:noFill/>
          </a:ln>
        </p:spPr>
      </p:sp>
      <p:sp>
        <p:nvSpPr>
          <p:cNvPr id="101" name="Shape 101"/>
          <p:cNvSpPr/>
          <p:nvPr/>
        </p:nvSpPr>
        <p:spPr>
          <a:xfrm>
            <a:off x="8229600" y="-182880"/>
            <a:ext cx="4480560" cy="7223760"/>
          </a:xfrm>
          <a:prstGeom prst="roundRect">
            <a:avLst/>
          </a:prstGeom>
          <a:solidFill>
            <a:srgbClr val="D5F4FB"/>
          </a:solidFill>
          <a:ln>
            <a:noFill/>
          </a:ln>
        </p:spPr>
      </p:sp>
      <p:sp>
        <p:nvSpPr>
          <p:cNvPr id="2" name="Shape 2"/>
          <p:cNvSpPr/>
          <p:nvPr/>
        </p:nvSpPr>
        <p:spPr>
          <a:xfrm>
            <a:off x="0" y="0"/>
            <a:ext cx="12192000" cy="329184"/>
          </a:xfrm>
          <a:prstGeom prst="rect">
            <a:avLst/>
          </a:prstGeom>
          <a:solidFill>
            <a:srgbClr val="0B5475"/>
          </a:solidFill>
          <a:ln>
            <a:noFill/>
          </a:ln>
        </p:spPr>
      </p:sp>
      <p:sp>
        <p:nvSpPr>
          <p:cNvPr id="3" name="Shape 3"/>
          <p:cNvSpPr/>
          <p:nvPr/>
        </p:nvSpPr>
        <p:spPr>
          <a:xfrm>
            <a:off x="9464040" y="0"/>
            <a:ext cx="2724912" cy="329184"/>
          </a:xfrm>
          <a:prstGeom prst="rect">
            <a:avLst/>
          </a:prstGeom>
          <a:solidFill>
            <a:srgbClr val="2EC6D8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02920" y="210312"/>
            <a:ext cx="5303520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s-ES" sz="1150" b="1">
                <a:solidFill>
                  <a:srgbClr val="1488B8"/>
                </a:solidFill>
                <a:latin typeface="Aptos"/>
                <a:cs typeface="Aptos"/>
              </a:rPr>
              <a:t>Primer viewport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1119104" y="210312"/>
            <a:ext cx="45720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r"/>
            <a:r>
              <a:rPr lang="es-ES" sz="1050" b="1">
                <a:solidFill>
                  <a:srgbClr val="4E7F99"/>
                </a:solidFill>
                <a:latin typeface="Aptos"/>
                <a:cs typeface="Aptos"/>
              </a:rPr>
              <a:t>05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58368" y="868680"/>
            <a:ext cx="4754880" cy="141732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s-ES" sz="2850" b="1">
                <a:solidFill>
                  <a:srgbClr val="05304A"/>
                </a:solidFill>
                <a:latin typeface="Aptos"/>
                <a:cs typeface="Aptos"/>
              </a:rPr>
              <a:t>El usuario recibe una propuesta clara, dos acciones y datos tecnicos sintetizados.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85800" y="2514600"/>
            <a:ext cx="4389120" cy="914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s-ES" sz="1650">
                <a:solidFill>
                  <a:srgbClr val="4E7F99"/>
                </a:solidFill>
                <a:latin typeface="Aptos"/>
                <a:cs typeface="Aptos"/>
              </a:rPr>
              <a:t>La pantalla inicial combina mensaje directo, CTA principal, acceso a producto y cuatro metricas de contexto. El objetivo es orientar, no abrumar.</a:t>
            </a:r>
          </a:p>
        </p:txBody>
      </p:sp>
      <p:pic>
        <p:nvPicPr>
          <p:cNvPr id="12" name="Screenshot"/>
          <p:cNvPicPr>
            <a:picLocks noChangeAspect="1"/>
          </p:cNvPicPr>
          <p:nvPr/>
        </p:nvPicPr>
        <p:blipFill>
          <a:blip r:embed="rIdImg1"/>
          <a:stretch>
            <a:fillRect/>
          </a:stretch>
        </p:blipFill>
        <p:spPr>
          <a:xfrm>
            <a:off x="5166360" y="960120"/>
            <a:ext cx="6309360" cy="4224528"/>
          </a:xfrm>
          <a:prstGeom prst="rect">
            <a:avLst/>
          </a:prstGeom>
          <a:ln w="12700">
            <a:solidFill>
              <a:srgbClr val="BCE8F4"/>
            </a:solidFill>
          </a:ln>
        </p:spPr>
      </p:pic>
      <p:sp>
        <p:nvSpPr>
          <p:cNvPr id="13" name="Shape 13"/>
          <p:cNvSpPr/>
          <p:nvPr/>
        </p:nvSpPr>
        <p:spPr>
          <a:xfrm>
            <a:off x="685800" y="4069080"/>
            <a:ext cx="4023360" cy="713232"/>
          </a:xfrm>
          <a:prstGeom prst="roundRect">
            <a:avLst/>
          </a:prstGeom>
          <a:solidFill>
            <a:srgbClr val="0B5475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914400" y="4261104"/>
            <a:ext cx="356616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"/>
            <a:r>
              <a:rPr lang="es-ES" sz="1300" b="1">
                <a:solidFill>
                  <a:srgbClr val="FFFFFF"/>
                </a:solidFill>
                <a:latin typeface="Aptos"/>
                <a:cs typeface="Aptos"/>
              </a:rPr>
              <a:t>Hero + ruta guiada + CTA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bg>
    <p:bgPr>
      <a:solidFill>
        <a:srgbClr val="F7FDFF"/>
      </a:solidFill>
      <a:effectLst/>
    </p:bgPr>
  </p:bg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Shape 100"/>
          <p:cNvSpPr/>
          <p:nvPr/>
        </p:nvSpPr>
        <p:spPr>
          <a:xfrm>
            <a:off x="-548640" y="640080"/>
            <a:ext cx="4297680" cy="5852160"/>
          </a:xfrm>
          <a:prstGeom prst="roundRect">
            <a:avLst/>
          </a:prstGeom>
          <a:solidFill>
            <a:srgbClr val="DDF6FD"/>
          </a:solidFill>
          <a:ln>
            <a:noFill/>
          </a:ln>
        </p:spPr>
      </p:sp>
      <p:sp>
        <p:nvSpPr>
          <p:cNvPr id="101" name="Shape 101"/>
          <p:cNvSpPr/>
          <p:nvPr/>
        </p:nvSpPr>
        <p:spPr>
          <a:xfrm>
            <a:off x="8229600" y="-182880"/>
            <a:ext cx="4480560" cy="7223760"/>
          </a:xfrm>
          <a:prstGeom prst="roundRect">
            <a:avLst/>
          </a:prstGeom>
          <a:solidFill>
            <a:srgbClr val="D5F4FB"/>
          </a:solidFill>
          <a:ln>
            <a:noFill/>
          </a:ln>
        </p:spPr>
      </p:sp>
      <p:sp>
        <p:nvSpPr>
          <p:cNvPr id="2" name="Shape 2"/>
          <p:cNvSpPr/>
          <p:nvPr/>
        </p:nvSpPr>
        <p:spPr>
          <a:xfrm>
            <a:off x="0" y="0"/>
            <a:ext cx="12192000" cy="329184"/>
          </a:xfrm>
          <a:prstGeom prst="rect">
            <a:avLst/>
          </a:prstGeom>
          <a:solidFill>
            <a:srgbClr val="0B5475"/>
          </a:solidFill>
          <a:ln>
            <a:noFill/>
          </a:ln>
        </p:spPr>
      </p:sp>
      <p:sp>
        <p:nvSpPr>
          <p:cNvPr id="3" name="Shape 3"/>
          <p:cNvSpPr/>
          <p:nvPr/>
        </p:nvSpPr>
        <p:spPr>
          <a:xfrm>
            <a:off x="9464040" y="0"/>
            <a:ext cx="2724912" cy="329184"/>
          </a:xfrm>
          <a:prstGeom prst="rect">
            <a:avLst/>
          </a:prstGeom>
          <a:solidFill>
            <a:srgbClr val="2EC6D8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02920" y="210312"/>
            <a:ext cx="5303520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s-ES" sz="1150" b="1">
                <a:solidFill>
                  <a:srgbClr val="1488B8"/>
                </a:solidFill>
                <a:latin typeface="Aptos"/>
                <a:cs typeface="Aptos"/>
              </a:rPr>
              <a:t>Ruta guiada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1119104" y="210312"/>
            <a:ext cx="45720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r"/>
            <a:r>
              <a:rPr lang="es-ES" sz="1050" b="1">
                <a:solidFill>
                  <a:srgbClr val="4E7F99"/>
                </a:solidFill>
                <a:latin typeface="Aptos"/>
                <a:cs typeface="Aptos"/>
              </a:rPr>
              <a:t>06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85800" y="914400"/>
            <a:ext cx="7863840" cy="105156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s-ES" sz="3000" b="1">
                <a:solidFill>
                  <a:srgbClr val="05304A"/>
                </a:solidFill>
                <a:latin typeface="Aptos"/>
                <a:cs typeface="Aptos"/>
              </a:rPr>
              <a:t>Tres decisiones sustituyen una lectura larga.</a:t>
            </a:r>
          </a:p>
        </p:txBody>
      </p:sp>
      <p:sp>
        <p:nvSpPr>
          <p:cNvPr id="11" name="Shape 11"/>
          <p:cNvSpPr/>
          <p:nvPr/>
        </p:nvSpPr>
        <p:spPr>
          <a:xfrm>
            <a:off x="713232" y="2148840"/>
            <a:ext cx="109728" cy="3063240"/>
          </a:xfrm>
          <a:prstGeom prst="rect">
            <a:avLst/>
          </a:prstGeom>
          <a:solidFill>
            <a:srgbClr val="2EC6D8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1005840" y="2057400"/>
            <a:ext cx="9509760" cy="347472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lnSpc>
                <a:spcPct val="115000"/>
              </a:lnSpc>
            </a:pPr>
            <a:r>
              <a:rPr lang="es-ES" sz="1680">
                <a:solidFill>
                  <a:srgbClr val="05304A"/>
                </a:solidFill>
                <a:latin typeface="Aptos"/>
                <a:cs typeface="Aptos"/>
              </a:rPr>
              <a:t>? Aplicacion principal: identifica rapidamente el caso de uso.</a:t>
            </a:r>
          </a:p>
          <a:p>
            <a:pPr algn="l">
              <a:lnSpc>
                <a:spcPct val="115000"/>
              </a:lnSpc>
            </a:pPr>
            <a:r>
              <a:rPr lang="es-ES" sz="1680">
                <a:solidFill>
                  <a:srgbClr val="05304A"/>
                </a:solidFill>
                <a:latin typeface="Aptos"/>
                <a:cs typeface="Aptos"/>
              </a:rPr>
              <a:t>? Fase del proyecto: separa curiosidad, diseno, validacion y compra.</a:t>
            </a:r>
          </a:p>
          <a:p>
            <a:pPr algn="l">
              <a:lnSpc>
                <a:spcPct val="115000"/>
              </a:lnSpc>
            </a:pPr>
            <a:r>
              <a:rPr lang="es-ES" sz="1680">
                <a:solidFill>
                  <a:srgbClr val="05304A"/>
                </a:solidFill>
                <a:latin typeface="Aptos"/>
                <a:cs typeface="Aptos"/>
              </a:rPr>
              <a:t>? Interes principal: producto, comparativa o documentacion.</a:t>
            </a:r>
          </a:p>
          <a:p>
            <a:pPr algn="l">
              <a:lnSpc>
                <a:spcPct val="115000"/>
              </a:lnSpc>
            </a:pPr>
            <a:r>
              <a:rPr lang="es-ES" sz="1680">
                <a:solidFill>
                  <a:srgbClr val="05304A"/>
                </a:solidFill>
                <a:latin typeface="Aptos"/>
                <a:cs typeface="Aptos"/>
              </a:rPr>
              <a:t>? El boton Preparar consulta centraliza el siguiente paso y reduce repeticion posterior.</a:t>
            </a:r>
          </a:p>
        </p:txBody>
      </p:sp>
      <p:sp>
        <p:nvSpPr>
          <p:cNvPr id="13" name="Shape 13"/>
          <p:cNvSpPr/>
          <p:nvPr/>
        </p:nvSpPr>
        <p:spPr>
          <a:xfrm>
            <a:off x="9006840" y="5230368"/>
            <a:ext cx="1828800" cy="411480"/>
          </a:xfrm>
          <a:prstGeom prst="roundRect">
            <a:avLst/>
          </a:prstGeom>
          <a:solidFill>
            <a:srgbClr val="0B5475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9125712" y="5340096"/>
            <a:ext cx="1591056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"/>
            <a:r>
              <a:rPr lang="es-ES" sz="950" b="1">
                <a:solidFill>
                  <a:srgbClr val="FFFFFF"/>
                </a:solidFill>
                <a:latin typeface="Aptos"/>
                <a:cs typeface="Aptos"/>
              </a:rPr>
              <a:t>Version intuitiva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bg>
    <p:bgPr>
      <a:solidFill>
        <a:srgbClr val="F7FDFF"/>
      </a:solidFill>
      <a:effectLst/>
    </p:bgPr>
  </p:bg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Shape 100"/>
          <p:cNvSpPr/>
          <p:nvPr/>
        </p:nvSpPr>
        <p:spPr>
          <a:xfrm>
            <a:off x="-548640" y="640080"/>
            <a:ext cx="4297680" cy="5852160"/>
          </a:xfrm>
          <a:prstGeom prst="roundRect">
            <a:avLst/>
          </a:prstGeom>
          <a:solidFill>
            <a:srgbClr val="DDF6FD"/>
          </a:solidFill>
          <a:ln>
            <a:noFill/>
          </a:ln>
        </p:spPr>
      </p:sp>
      <p:sp>
        <p:nvSpPr>
          <p:cNvPr id="101" name="Shape 101"/>
          <p:cNvSpPr/>
          <p:nvPr/>
        </p:nvSpPr>
        <p:spPr>
          <a:xfrm>
            <a:off x="8229600" y="-182880"/>
            <a:ext cx="4480560" cy="7223760"/>
          </a:xfrm>
          <a:prstGeom prst="roundRect">
            <a:avLst/>
          </a:prstGeom>
          <a:solidFill>
            <a:srgbClr val="D5F4FB"/>
          </a:solidFill>
          <a:ln>
            <a:noFill/>
          </a:ln>
        </p:spPr>
      </p:sp>
      <p:sp>
        <p:nvSpPr>
          <p:cNvPr id="2" name="Shape 2"/>
          <p:cNvSpPr/>
          <p:nvPr/>
        </p:nvSpPr>
        <p:spPr>
          <a:xfrm>
            <a:off x="0" y="0"/>
            <a:ext cx="12192000" cy="329184"/>
          </a:xfrm>
          <a:prstGeom prst="rect">
            <a:avLst/>
          </a:prstGeom>
          <a:solidFill>
            <a:srgbClr val="0B5475"/>
          </a:solidFill>
          <a:ln>
            <a:noFill/>
          </a:ln>
        </p:spPr>
      </p:sp>
      <p:sp>
        <p:nvSpPr>
          <p:cNvPr id="3" name="Shape 3"/>
          <p:cNvSpPr/>
          <p:nvPr/>
        </p:nvSpPr>
        <p:spPr>
          <a:xfrm>
            <a:off x="9464040" y="0"/>
            <a:ext cx="2724912" cy="329184"/>
          </a:xfrm>
          <a:prstGeom prst="rect">
            <a:avLst/>
          </a:prstGeom>
          <a:solidFill>
            <a:srgbClr val="2EC6D8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02920" y="210312"/>
            <a:ext cx="5303520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s-ES" sz="1150" b="1">
                <a:solidFill>
                  <a:srgbClr val="1488B8"/>
                </a:solidFill>
                <a:latin typeface="Aptos"/>
                <a:cs typeface="Aptos"/>
              </a:rPr>
              <a:t>Proceso guiado lateral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1119104" y="210312"/>
            <a:ext cx="45720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r"/>
            <a:r>
              <a:rPr lang="es-ES" sz="1050" b="1">
                <a:solidFill>
                  <a:srgbClr val="4E7F99"/>
                </a:solidFill>
                <a:latin typeface="Aptos"/>
                <a:cs typeface="Aptos"/>
              </a:rPr>
              <a:t>07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85800" y="914400"/>
            <a:ext cx="7863840" cy="105156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s-ES" sz="3000" b="1">
                <a:solidFill>
                  <a:srgbClr val="05304A"/>
                </a:solidFill>
                <a:latin typeface="Aptos"/>
                <a:cs typeface="Aptos"/>
              </a:rPr>
              <a:t>Una ayuda persistente sin robar protagonismo a la pagina.</a:t>
            </a:r>
          </a:p>
        </p:txBody>
      </p:sp>
      <p:sp>
        <p:nvSpPr>
          <p:cNvPr id="11" name="Shape 11"/>
          <p:cNvSpPr/>
          <p:nvPr/>
        </p:nvSpPr>
        <p:spPr>
          <a:xfrm>
            <a:off x="713232" y="2148840"/>
            <a:ext cx="109728" cy="3063240"/>
          </a:xfrm>
          <a:prstGeom prst="rect">
            <a:avLst/>
          </a:prstGeom>
          <a:solidFill>
            <a:srgbClr val="2EC6D8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1005840" y="2057400"/>
            <a:ext cx="9509760" cy="347472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lnSpc>
                <a:spcPct val="115000"/>
              </a:lnSpc>
            </a:pPr>
            <a:r>
              <a:rPr lang="es-ES" sz="1680">
                <a:solidFill>
                  <a:srgbClr val="05304A"/>
                </a:solidFill>
                <a:latin typeface="Aptos"/>
                <a:cs typeface="Aptos"/>
              </a:rPr>
              <a:t>? La flecha fija actua como acceso rapido al recorrido recomendado.</a:t>
            </a:r>
          </a:p>
          <a:p>
            <a:pPr algn="l">
              <a:lnSpc>
                <a:spcPct val="115000"/>
              </a:lnSpc>
            </a:pPr>
            <a:r>
              <a:rPr lang="es-ES" sz="1680">
                <a:solidFill>
                  <a:srgbClr val="05304A"/>
                </a:solidFill>
                <a:latin typeface="Aptos"/>
                <a:cs typeface="Aptos"/>
              </a:rPr>
              <a:t>? El panel se despliega lateralmente y explica como usar la version.</a:t>
            </a:r>
          </a:p>
          <a:p>
            <a:pPr algn="l">
              <a:lnSpc>
                <a:spcPct val="115000"/>
              </a:lnSpc>
            </a:pPr>
            <a:r>
              <a:rPr lang="es-ES" sz="1680">
                <a:solidFill>
                  <a:srgbClr val="05304A"/>
                </a:solidFill>
                <a:latin typeface="Aptos"/>
                <a:cs typeface="Aptos"/>
              </a:rPr>
              <a:t>? En movil se compacta para no tapar formularios ni selectores.</a:t>
            </a:r>
          </a:p>
          <a:p>
            <a:pPr algn="l">
              <a:lnSpc>
                <a:spcPct val="115000"/>
              </a:lnSpc>
            </a:pPr>
            <a:r>
              <a:rPr lang="es-ES" sz="1680">
                <a:solidFill>
                  <a:srgbClr val="05304A"/>
                </a:solidFill>
                <a:latin typeface="Aptos"/>
                <a:cs typeface="Aptos"/>
              </a:rPr>
              <a:t>? La intencion es acompanar al usuario sin convertir la web en un manual visible permanente.</a:t>
            </a:r>
          </a:p>
        </p:txBody>
      </p:sp>
      <p:sp>
        <p:nvSpPr>
          <p:cNvPr id="13" name="Shape 13"/>
          <p:cNvSpPr/>
          <p:nvPr/>
        </p:nvSpPr>
        <p:spPr>
          <a:xfrm>
            <a:off x="9006840" y="5230368"/>
            <a:ext cx="1828800" cy="411480"/>
          </a:xfrm>
          <a:prstGeom prst="roundRect">
            <a:avLst/>
          </a:prstGeom>
          <a:solidFill>
            <a:srgbClr val="0B5475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9125712" y="5340096"/>
            <a:ext cx="1591056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"/>
            <a:r>
              <a:rPr lang="es-ES" sz="950" b="1">
                <a:solidFill>
                  <a:srgbClr val="FFFFFF"/>
                </a:solidFill>
                <a:latin typeface="Aptos"/>
                <a:cs typeface="Aptos"/>
              </a:rPr>
              <a:t>Version intuitiva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bg>
    <p:bgPr>
      <a:solidFill>
        <a:srgbClr val="F7FDFF"/>
      </a:solidFill>
      <a:effectLst/>
    </p:bgPr>
  </p:bg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Shape 100"/>
          <p:cNvSpPr/>
          <p:nvPr/>
        </p:nvSpPr>
        <p:spPr>
          <a:xfrm>
            <a:off x="-548640" y="640080"/>
            <a:ext cx="4297680" cy="5852160"/>
          </a:xfrm>
          <a:prstGeom prst="roundRect">
            <a:avLst/>
          </a:prstGeom>
          <a:solidFill>
            <a:srgbClr val="DDF6FD"/>
          </a:solidFill>
          <a:ln>
            <a:noFill/>
          </a:ln>
        </p:spPr>
      </p:sp>
      <p:sp>
        <p:nvSpPr>
          <p:cNvPr id="101" name="Shape 101"/>
          <p:cNvSpPr/>
          <p:nvPr/>
        </p:nvSpPr>
        <p:spPr>
          <a:xfrm>
            <a:off x="8229600" y="-182880"/>
            <a:ext cx="4480560" cy="7223760"/>
          </a:xfrm>
          <a:prstGeom prst="roundRect">
            <a:avLst/>
          </a:prstGeom>
          <a:solidFill>
            <a:srgbClr val="D5F4FB"/>
          </a:solidFill>
          <a:ln>
            <a:noFill/>
          </a:ln>
        </p:spPr>
      </p:sp>
      <p:sp>
        <p:nvSpPr>
          <p:cNvPr id="2" name="Shape 2"/>
          <p:cNvSpPr/>
          <p:nvPr/>
        </p:nvSpPr>
        <p:spPr>
          <a:xfrm>
            <a:off x="0" y="0"/>
            <a:ext cx="12192000" cy="329184"/>
          </a:xfrm>
          <a:prstGeom prst="rect">
            <a:avLst/>
          </a:prstGeom>
          <a:solidFill>
            <a:srgbClr val="0B5475"/>
          </a:solidFill>
          <a:ln>
            <a:noFill/>
          </a:ln>
        </p:spPr>
      </p:sp>
      <p:sp>
        <p:nvSpPr>
          <p:cNvPr id="3" name="Shape 3"/>
          <p:cNvSpPr/>
          <p:nvPr/>
        </p:nvSpPr>
        <p:spPr>
          <a:xfrm>
            <a:off x="9464040" y="0"/>
            <a:ext cx="2724912" cy="329184"/>
          </a:xfrm>
          <a:prstGeom prst="rect">
            <a:avLst/>
          </a:prstGeom>
          <a:solidFill>
            <a:srgbClr val="2EC6D8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02920" y="210312"/>
            <a:ext cx="5303520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s-ES" sz="1150" b="1">
                <a:solidFill>
                  <a:srgbClr val="1488B8"/>
                </a:solidFill>
                <a:latin typeface="Aptos"/>
                <a:cs typeface="Aptos"/>
              </a:rPr>
              <a:t>Productos y aplicaciones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1119104" y="210312"/>
            <a:ext cx="45720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r"/>
            <a:r>
              <a:rPr lang="es-ES" sz="1050" b="1">
                <a:solidFill>
                  <a:srgbClr val="4E7F99"/>
                </a:solidFill>
                <a:latin typeface="Aptos"/>
                <a:cs typeface="Aptos"/>
              </a:rPr>
              <a:t>08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85800" y="914400"/>
            <a:ext cx="7863840" cy="105156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s-ES" sz="3000" b="1">
                <a:solidFill>
                  <a:srgbClr val="05304A"/>
                </a:solidFill>
                <a:latin typeface="Aptos"/>
                <a:cs typeface="Aptos"/>
              </a:rPr>
              <a:t>Primero imagen y seleccion; despues detalle solo si interesa.</a:t>
            </a:r>
          </a:p>
        </p:txBody>
      </p:sp>
      <p:sp>
        <p:nvSpPr>
          <p:cNvPr id="11" name="Shape 11"/>
          <p:cNvSpPr/>
          <p:nvPr/>
        </p:nvSpPr>
        <p:spPr>
          <a:xfrm>
            <a:off x="713232" y="2148840"/>
            <a:ext cx="109728" cy="3063240"/>
          </a:xfrm>
          <a:prstGeom prst="rect">
            <a:avLst/>
          </a:prstGeom>
          <a:solidFill>
            <a:srgbClr val="2EC6D8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1005840" y="2057400"/>
            <a:ext cx="9509760" cy="347472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lnSpc>
                <a:spcPct val="115000"/>
              </a:lnSpc>
            </a:pPr>
            <a:r>
              <a:rPr lang="es-ES" sz="1680">
                <a:solidFill>
                  <a:srgbClr val="05304A"/>
                </a:solidFill>
                <a:latin typeface="Aptos"/>
                <a:cs typeface="Aptos"/>
              </a:rPr>
              <a:t>? Aplicaciones organizadas por escenarios reconocibles: bus, marino, agricola, VCL, carga movil y ferrocarril.</a:t>
            </a:r>
          </a:p>
          <a:p>
            <a:pPr algn="l">
              <a:lnSpc>
                <a:spcPct val="115000"/>
              </a:lnSpc>
            </a:pPr>
            <a:r>
              <a:rPr lang="es-ES" sz="1680">
                <a:solidFill>
                  <a:srgbClr val="05304A"/>
                </a:solidFill>
                <a:latin typeface="Aptos"/>
                <a:cs typeface="Aptos"/>
              </a:rPr>
              <a:t>? Productos en cinta visual para explorar sin llenar la pagina de especificaciones.</a:t>
            </a:r>
          </a:p>
          <a:p>
            <a:pPr algn="l">
              <a:lnSpc>
                <a:spcPct val="115000"/>
              </a:lnSpc>
            </a:pPr>
            <a:r>
              <a:rPr lang="es-ES" sz="1680">
                <a:solidFill>
                  <a:srgbClr val="05304A"/>
                </a:solidFill>
                <a:latin typeface="Aptos"/>
                <a:cs typeface="Aptos"/>
              </a:rPr>
              <a:t>? Mostrar mas despliega datos y acciones cuando el usuario ya ha mostrado interes.</a:t>
            </a:r>
          </a:p>
          <a:p>
            <a:pPr algn="l">
              <a:lnSpc>
                <a:spcPct val="115000"/>
              </a:lnSpc>
            </a:pPr>
            <a:r>
              <a:rPr lang="es-ES" sz="1680">
                <a:solidFill>
                  <a:srgbClr val="05304A"/>
                </a:solidFill>
                <a:latin typeface="Aptos"/>
                <a:cs typeface="Aptos"/>
              </a:rPr>
              <a:t>? El carrito se entiende como inclusion en consulta, no como e-commerce cerrado.</a:t>
            </a:r>
          </a:p>
        </p:txBody>
      </p:sp>
      <p:sp>
        <p:nvSpPr>
          <p:cNvPr id="13" name="Shape 13"/>
          <p:cNvSpPr/>
          <p:nvPr/>
        </p:nvSpPr>
        <p:spPr>
          <a:xfrm>
            <a:off x="9006840" y="5230368"/>
            <a:ext cx="1828800" cy="411480"/>
          </a:xfrm>
          <a:prstGeom prst="roundRect">
            <a:avLst/>
          </a:prstGeom>
          <a:solidFill>
            <a:srgbClr val="0B5475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9125712" y="5340096"/>
            <a:ext cx="1591056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"/>
            <a:r>
              <a:rPr lang="es-ES" sz="950" b="1">
                <a:solidFill>
                  <a:srgbClr val="FFFFFF"/>
                </a:solidFill>
                <a:latin typeface="Aptos"/>
                <a:cs typeface="Aptos"/>
              </a:rPr>
              <a:t>Version intuitiva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bg>
    <p:bgPr>
      <a:solidFill>
        <a:srgbClr val="F7FDFF"/>
      </a:solidFill>
      <a:effectLst/>
    </p:bgPr>
  </p:bg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Shape 100"/>
          <p:cNvSpPr/>
          <p:nvPr/>
        </p:nvSpPr>
        <p:spPr>
          <a:xfrm>
            <a:off x="-548640" y="640080"/>
            <a:ext cx="4297680" cy="5852160"/>
          </a:xfrm>
          <a:prstGeom prst="roundRect">
            <a:avLst/>
          </a:prstGeom>
          <a:solidFill>
            <a:srgbClr val="DDF6FD"/>
          </a:solidFill>
          <a:ln>
            <a:noFill/>
          </a:ln>
        </p:spPr>
      </p:sp>
      <p:sp>
        <p:nvSpPr>
          <p:cNvPr id="101" name="Shape 101"/>
          <p:cNvSpPr/>
          <p:nvPr/>
        </p:nvSpPr>
        <p:spPr>
          <a:xfrm>
            <a:off x="8229600" y="-182880"/>
            <a:ext cx="4480560" cy="7223760"/>
          </a:xfrm>
          <a:prstGeom prst="roundRect">
            <a:avLst/>
          </a:prstGeom>
          <a:solidFill>
            <a:srgbClr val="D5F4FB"/>
          </a:solidFill>
          <a:ln>
            <a:noFill/>
          </a:ln>
        </p:spPr>
      </p:sp>
      <p:sp>
        <p:nvSpPr>
          <p:cNvPr id="2" name="Shape 2"/>
          <p:cNvSpPr/>
          <p:nvPr/>
        </p:nvSpPr>
        <p:spPr>
          <a:xfrm>
            <a:off x="0" y="0"/>
            <a:ext cx="12192000" cy="329184"/>
          </a:xfrm>
          <a:prstGeom prst="rect">
            <a:avLst/>
          </a:prstGeom>
          <a:solidFill>
            <a:srgbClr val="0B5475"/>
          </a:solidFill>
          <a:ln>
            <a:noFill/>
          </a:ln>
        </p:spPr>
      </p:sp>
      <p:sp>
        <p:nvSpPr>
          <p:cNvPr id="3" name="Shape 3"/>
          <p:cNvSpPr/>
          <p:nvPr/>
        </p:nvSpPr>
        <p:spPr>
          <a:xfrm>
            <a:off x="9464040" y="0"/>
            <a:ext cx="2724912" cy="329184"/>
          </a:xfrm>
          <a:prstGeom prst="rect">
            <a:avLst/>
          </a:prstGeom>
          <a:solidFill>
            <a:srgbClr val="2EC6D8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02920" y="210312"/>
            <a:ext cx="5303520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s-ES" sz="1150" b="1">
                <a:solidFill>
                  <a:srgbClr val="1488B8"/>
                </a:solidFill>
                <a:latin typeface="Aptos"/>
                <a:cs typeface="Aptos"/>
              </a:rPr>
              <a:t>Consulta y documentacion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1119104" y="210312"/>
            <a:ext cx="45720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r"/>
            <a:r>
              <a:rPr lang="es-ES" sz="1050" b="1">
                <a:solidFill>
                  <a:srgbClr val="4E7F99"/>
                </a:solidFill>
                <a:latin typeface="Aptos"/>
                <a:cs typeface="Aptos"/>
              </a:rPr>
              <a:t>09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85800" y="914400"/>
            <a:ext cx="7863840" cy="105156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s-ES" sz="3000" b="1">
                <a:solidFill>
                  <a:srgbClr val="05304A"/>
                </a:solidFill>
                <a:latin typeface="Aptos"/>
                <a:cs typeface="Aptos"/>
              </a:rPr>
              <a:t>El formulario deja de ser generico: recoge lo justo para responder mejor.</a:t>
            </a:r>
          </a:p>
        </p:txBody>
      </p:sp>
      <p:sp>
        <p:nvSpPr>
          <p:cNvPr id="11" name="Shape 11"/>
          <p:cNvSpPr/>
          <p:nvPr/>
        </p:nvSpPr>
        <p:spPr>
          <a:xfrm>
            <a:off x="713232" y="2148840"/>
            <a:ext cx="109728" cy="3063240"/>
          </a:xfrm>
          <a:prstGeom prst="rect">
            <a:avLst/>
          </a:prstGeom>
          <a:solidFill>
            <a:srgbClr val="2EC6D8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1005840" y="2057400"/>
            <a:ext cx="9509760" cy="347472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lnSpc>
                <a:spcPct val="115000"/>
              </a:lnSpc>
            </a:pPr>
            <a:r>
              <a:rPr lang="es-ES" sz="1680">
                <a:solidFill>
                  <a:srgbClr val="05304A"/>
                </a:solidFill>
                <a:latin typeface="Aptos"/>
                <a:cs typeface="Aptos"/>
              </a:rPr>
              <a:t>? Campos reducidos y orientados a necesidad tecnica real.</a:t>
            </a:r>
          </a:p>
          <a:p>
            <a:pPr algn="l">
              <a:lnSpc>
                <a:spcPct val="115000"/>
              </a:lnSpc>
            </a:pPr>
            <a:r>
              <a:rPr lang="es-ES" sz="1680">
                <a:solidFill>
                  <a:srgbClr val="05304A"/>
                </a:solidFill>
                <a:latin typeface="Aptos"/>
                <a:cs typeface="Aptos"/>
              </a:rPr>
              <a:t>? Validacion en frontend y backend para evitar entradas fuera de formato.</a:t>
            </a:r>
          </a:p>
          <a:p>
            <a:pPr algn="l">
              <a:lnSpc>
                <a:spcPct val="115000"/>
              </a:lnSpc>
            </a:pPr>
            <a:r>
              <a:rPr lang="es-ES" sz="1680">
                <a:solidFill>
                  <a:srgbClr val="05304A"/>
                </a:solidFill>
                <a:latin typeface="Aptos"/>
                <a:cs typeface="Aptos"/>
              </a:rPr>
              <a:t>? Contacto por correo visible como via alternativa sin romper la composicion.</a:t>
            </a:r>
          </a:p>
          <a:p>
            <a:pPr algn="l">
              <a:lnSpc>
                <a:spcPct val="115000"/>
              </a:lnSpc>
            </a:pPr>
            <a:r>
              <a:rPr lang="es-ES" sz="1680">
                <a:solidFill>
                  <a:srgbClr val="05304A"/>
                </a:solidFill>
                <a:latin typeface="Aptos"/>
                <a:cs typeface="Aptos"/>
              </a:rPr>
              <a:t>? Documentacion tecnica se pide con contexto, no como descarga aislada sin cualificar.</a:t>
            </a:r>
          </a:p>
        </p:txBody>
      </p:sp>
      <p:sp>
        <p:nvSpPr>
          <p:cNvPr id="13" name="Shape 13"/>
          <p:cNvSpPr/>
          <p:nvPr/>
        </p:nvSpPr>
        <p:spPr>
          <a:xfrm>
            <a:off x="9006840" y="5230368"/>
            <a:ext cx="1828800" cy="411480"/>
          </a:xfrm>
          <a:prstGeom prst="roundRect">
            <a:avLst/>
          </a:prstGeom>
          <a:solidFill>
            <a:srgbClr val="0B5475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9125712" y="5340096"/>
            <a:ext cx="1591056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"/>
            <a:r>
              <a:rPr lang="es-ES" sz="950" b="1">
                <a:solidFill>
                  <a:srgbClr val="FFFFFF"/>
                </a:solidFill>
                <a:latin typeface="Aptos"/>
                <a:cs typeface="Aptos"/>
              </a:rPr>
              <a:t>Version intuitiva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bg>
    <p:bgPr>
      <a:solidFill>
        <a:srgbClr val="F7FDFF"/>
      </a:solidFill>
      <a:effectLst/>
    </p:bgPr>
  </p:bg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Shape 100"/>
          <p:cNvSpPr/>
          <p:nvPr/>
        </p:nvSpPr>
        <p:spPr>
          <a:xfrm>
            <a:off x="-548640" y="640080"/>
            <a:ext cx="4297680" cy="5852160"/>
          </a:xfrm>
          <a:prstGeom prst="roundRect">
            <a:avLst/>
          </a:prstGeom>
          <a:solidFill>
            <a:srgbClr val="DDF6FD"/>
          </a:solidFill>
          <a:ln>
            <a:noFill/>
          </a:ln>
        </p:spPr>
      </p:sp>
      <p:sp>
        <p:nvSpPr>
          <p:cNvPr id="101" name="Shape 101"/>
          <p:cNvSpPr/>
          <p:nvPr/>
        </p:nvSpPr>
        <p:spPr>
          <a:xfrm>
            <a:off x="8229600" y="-182880"/>
            <a:ext cx="4480560" cy="7223760"/>
          </a:xfrm>
          <a:prstGeom prst="roundRect">
            <a:avLst/>
          </a:prstGeom>
          <a:solidFill>
            <a:srgbClr val="D5F4FB"/>
          </a:solidFill>
          <a:ln>
            <a:noFill/>
          </a:ln>
        </p:spPr>
      </p:sp>
      <p:sp>
        <p:nvSpPr>
          <p:cNvPr id="2" name="Shape 2"/>
          <p:cNvSpPr/>
          <p:nvPr/>
        </p:nvSpPr>
        <p:spPr>
          <a:xfrm>
            <a:off x="0" y="0"/>
            <a:ext cx="12192000" cy="329184"/>
          </a:xfrm>
          <a:prstGeom prst="rect">
            <a:avLst/>
          </a:prstGeom>
          <a:solidFill>
            <a:srgbClr val="0B5475"/>
          </a:solidFill>
          <a:ln>
            <a:noFill/>
          </a:ln>
        </p:spPr>
      </p:sp>
      <p:sp>
        <p:nvSpPr>
          <p:cNvPr id="3" name="Shape 3"/>
          <p:cNvSpPr/>
          <p:nvPr/>
        </p:nvSpPr>
        <p:spPr>
          <a:xfrm>
            <a:off x="9464040" y="0"/>
            <a:ext cx="2724912" cy="329184"/>
          </a:xfrm>
          <a:prstGeom prst="rect">
            <a:avLst/>
          </a:prstGeom>
          <a:solidFill>
            <a:srgbClr val="2EC6D8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02920" y="210312"/>
            <a:ext cx="5303520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s-ES" sz="1150" b="1">
                <a:solidFill>
                  <a:srgbClr val="1488B8"/>
                </a:solidFill>
                <a:latin typeface="Aptos"/>
                <a:cs typeface="Aptos"/>
              </a:rPr>
              <a:t>Diseno, color y responsive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1119104" y="210312"/>
            <a:ext cx="45720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r"/>
            <a:r>
              <a:rPr lang="es-ES" sz="1050" b="1">
                <a:solidFill>
                  <a:srgbClr val="4E7F99"/>
                </a:solidFill>
                <a:latin typeface="Aptos"/>
                <a:cs typeface="Aptos"/>
              </a:rPr>
              <a:t>10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85800" y="914400"/>
            <a:ext cx="7863840" cy="105156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s-ES" sz="3000" b="1">
                <a:solidFill>
                  <a:srgbClr val="05304A"/>
                </a:solidFill>
                <a:latin typeface="Aptos"/>
                <a:cs typeface="Aptos"/>
              </a:rPr>
              <a:t>Una version mas clara que respeta modo oscuro del navegador sin depender de el.</a:t>
            </a:r>
          </a:p>
        </p:txBody>
      </p:sp>
      <p:sp>
        <p:nvSpPr>
          <p:cNvPr id="11" name="Shape 11"/>
          <p:cNvSpPr/>
          <p:nvPr/>
        </p:nvSpPr>
        <p:spPr>
          <a:xfrm>
            <a:off x="713232" y="2148840"/>
            <a:ext cx="109728" cy="3063240"/>
          </a:xfrm>
          <a:prstGeom prst="rect">
            <a:avLst/>
          </a:prstGeom>
          <a:solidFill>
            <a:srgbClr val="2EC6D8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1005840" y="2057400"/>
            <a:ext cx="9509760" cy="347472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lnSpc>
                <a:spcPct val="115000"/>
              </a:lnSpc>
            </a:pPr>
            <a:r>
              <a:rPr lang="es-ES" sz="1680">
                <a:solidFill>
                  <a:srgbClr val="05304A"/>
                </a:solidFill>
                <a:latin typeface="Aptos"/>
                <a:cs typeface="Aptos"/>
              </a:rPr>
              <a:t>? Paleta azul/celeste dominante con fondo claro y contraste controlado.</a:t>
            </a:r>
          </a:p>
          <a:p>
            <a:pPr algn="l">
              <a:lnSpc>
                <a:spcPct val="115000"/>
              </a:lnSpc>
            </a:pPr>
            <a:r>
              <a:rPr lang="es-ES" sz="1680">
                <a:solidFill>
                  <a:srgbClr val="05304A"/>
                </a:solidFill>
                <a:latin typeface="Aptos"/>
                <a:cs typeface="Aptos"/>
              </a:rPr>
              <a:t>? Gradientes aplicados en CTA, metricas, selects y contenedores clave para coherencia visual.</a:t>
            </a:r>
          </a:p>
          <a:p>
            <a:pPr algn="l">
              <a:lnSpc>
                <a:spcPct val="115000"/>
              </a:lnSpc>
            </a:pPr>
            <a:r>
              <a:rPr lang="es-ES" sz="1680">
                <a:solidFill>
                  <a:srgbClr val="05304A"/>
                </a:solidFill>
                <a:latin typeface="Aptos"/>
                <a:cs typeface="Aptos"/>
              </a:rPr>
              <a:t>? Breakpoints revisados para desktop, tablet y movil: no solapes, no desbordes, jerarquia mantenida.</a:t>
            </a:r>
          </a:p>
          <a:p>
            <a:pPr algn="l">
              <a:lnSpc>
                <a:spcPct val="115000"/>
              </a:lnSpc>
            </a:pPr>
            <a:r>
              <a:rPr lang="es-ES" sz="1680">
                <a:solidFill>
                  <a:srgbClr val="05304A"/>
                </a:solidFill>
                <a:latin typeface="Aptos"/>
                <a:cs typeface="Aptos"/>
              </a:rPr>
              <a:t>? Header fijo, selector de idiomas y boton superior mantienen acceso rapido sin saturar.</a:t>
            </a:r>
          </a:p>
        </p:txBody>
      </p:sp>
      <p:sp>
        <p:nvSpPr>
          <p:cNvPr id="13" name="Shape 13"/>
          <p:cNvSpPr/>
          <p:nvPr/>
        </p:nvSpPr>
        <p:spPr>
          <a:xfrm>
            <a:off x="9006840" y="5230368"/>
            <a:ext cx="1828800" cy="411480"/>
          </a:xfrm>
          <a:prstGeom prst="roundRect">
            <a:avLst/>
          </a:prstGeom>
          <a:solidFill>
            <a:srgbClr val="0B5475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9125712" y="5340096"/>
            <a:ext cx="1591056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"/>
            <a:r>
              <a:rPr lang="es-ES" sz="950" b="1">
                <a:solidFill>
                  <a:srgbClr val="FFFFFF"/>
                </a:solidFill>
                <a:latin typeface="Aptos"/>
                <a:cs typeface="Aptos"/>
              </a:rPr>
              <a:t>Version intuitiva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bg>
    <p:bgPr>
      <a:solidFill>
        <a:srgbClr val="F7FDFF"/>
      </a:solidFill>
      <a:effectLst/>
    </p:bgPr>
  </p:bg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Shape 100"/>
          <p:cNvSpPr/>
          <p:nvPr/>
        </p:nvSpPr>
        <p:spPr>
          <a:xfrm>
            <a:off x="-548640" y="640080"/>
            <a:ext cx="4297680" cy="5852160"/>
          </a:xfrm>
          <a:prstGeom prst="roundRect">
            <a:avLst/>
          </a:prstGeom>
          <a:solidFill>
            <a:srgbClr val="DDF6FD"/>
          </a:solidFill>
          <a:ln>
            <a:noFill/>
          </a:ln>
        </p:spPr>
      </p:sp>
      <p:sp>
        <p:nvSpPr>
          <p:cNvPr id="101" name="Shape 101"/>
          <p:cNvSpPr/>
          <p:nvPr/>
        </p:nvSpPr>
        <p:spPr>
          <a:xfrm>
            <a:off x="8229600" y="-182880"/>
            <a:ext cx="4480560" cy="7223760"/>
          </a:xfrm>
          <a:prstGeom prst="roundRect">
            <a:avLst/>
          </a:prstGeom>
          <a:solidFill>
            <a:srgbClr val="D5F4FB"/>
          </a:solidFill>
          <a:ln>
            <a:noFill/>
          </a:ln>
        </p:spPr>
      </p:sp>
      <p:sp>
        <p:nvSpPr>
          <p:cNvPr id="2" name="Shape 2"/>
          <p:cNvSpPr/>
          <p:nvPr/>
        </p:nvSpPr>
        <p:spPr>
          <a:xfrm>
            <a:off x="0" y="0"/>
            <a:ext cx="12192000" cy="329184"/>
          </a:xfrm>
          <a:prstGeom prst="rect">
            <a:avLst/>
          </a:prstGeom>
          <a:solidFill>
            <a:srgbClr val="0B5475"/>
          </a:solidFill>
          <a:ln>
            <a:noFill/>
          </a:ln>
        </p:spPr>
      </p:sp>
      <p:sp>
        <p:nvSpPr>
          <p:cNvPr id="3" name="Shape 3"/>
          <p:cNvSpPr/>
          <p:nvPr/>
        </p:nvSpPr>
        <p:spPr>
          <a:xfrm>
            <a:off x="9464040" y="0"/>
            <a:ext cx="2724912" cy="329184"/>
          </a:xfrm>
          <a:prstGeom prst="rect">
            <a:avLst/>
          </a:prstGeom>
          <a:solidFill>
            <a:srgbClr val="2EC6D8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02920" y="210312"/>
            <a:ext cx="5303520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s-ES" sz="1150" b="1">
                <a:solidFill>
                  <a:srgbClr val="1488B8"/>
                </a:solidFill>
                <a:latin typeface="Aptos"/>
                <a:cs typeface="Aptos"/>
              </a:rPr>
              <a:t>Solidez tecnica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1119104" y="210312"/>
            <a:ext cx="45720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r"/>
            <a:r>
              <a:rPr lang="es-ES" sz="1050" b="1">
                <a:solidFill>
                  <a:srgbClr val="4E7F99"/>
                </a:solidFill>
                <a:latin typeface="Aptos"/>
                <a:cs typeface="Aptos"/>
              </a:rPr>
              <a:t>11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85800" y="914400"/>
            <a:ext cx="7863840" cy="105156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s-ES" sz="3000" b="1">
                <a:solidFill>
                  <a:srgbClr val="05304A"/>
                </a:solidFill>
                <a:latin typeface="Aptos"/>
                <a:cs typeface="Aptos"/>
              </a:rPr>
              <a:t>La propuesta visual se acompa?a de endurecimiento basico.</a:t>
            </a:r>
          </a:p>
        </p:txBody>
      </p:sp>
      <p:sp>
        <p:nvSpPr>
          <p:cNvPr id="11" name="Shape 11"/>
          <p:cNvSpPr/>
          <p:nvPr/>
        </p:nvSpPr>
        <p:spPr>
          <a:xfrm>
            <a:off x="713232" y="2148840"/>
            <a:ext cx="109728" cy="3063240"/>
          </a:xfrm>
          <a:prstGeom prst="rect">
            <a:avLst/>
          </a:prstGeom>
          <a:solidFill>
            <a:srgbClr val="2EC6D8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1005840" y="2057400"/>
            <a:ext cx="9509760" cy="347472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lnSpc>
                <a:spcPct val="115000"/>
              </a:lnSpc>
            </a:pPr>
            <a:r>
              <a:rPr lang="es-ES" sz="1680">
                <a:solidFill>
                  <a:srgbClr val="05304A"/>
                </a:solidFill>
                <a:latin typeface="Aptos"/>
                <a:cs typeface="Aptos"/>
              </a:rPr>
              <a:t>? CSP definida en el documento para restringir origenes, scripts, formularios y recursos.</a:t>
            </a:r>
          </a:p>
          <a:p>
            <a:pPr algn="l">
              <a:lnSpc>
                <a:spcPct val="115000"/>
              </a:lnSpc>
            </a:pPr>
            <a:r>
              <a:rPr lang="es-ES" sz="1680">
                <a:solidFill>
                  <a:srgbClr val="05304A"/>
                </a:solidFill>
                <a:latin typeface="Aptos"/>
                <a:cs typeface="Aptos"/>
              </a:rPr>
              <a:t>? Formulario con validacion de texto, correo, selectores y consentimiento.</a:t>
            </a:r>
          </a:p>
          <a:p>
            <a:pPr algn="l">
              <a:lnSpc>
                <a:spcPct val="115000"/>
              </a:lnSpc>
            </a:pPr>
            <a:r>
              <a:rPr lang="es-ES" sz="1680">
                <a:solidFill>
                  <a:srgbClr val="05304A"/>
                </a:solidFill>
                <a:latin typeface="Aptos"/>
                <a:cs typeface="Aptos"/>
              </a:rPr>
              <a:t>? Backend PHP dedicado para saneado, respuesta JSON y control de metodo.</a:t>
            </a:r>
          </a:p>
          <a:p>
            <a:pPr algn="l">
              <a:lnSpc>
                <a:spcPct val="115000"/>
              </a:lnSpc>
            </a:pPr>
            <a:r>
              <a:rPr lang="es-ES" sz="1680">
                <a:solidFill>
                  <a:srgbClr val="05304A"/>
                </a:solidFill>
                <a:latin typeface="Aptos"/>
                <a:cs typeface="Aptos"/>
              </a:rPr>
              <a:t>? Codigo sin referencias a herramientas externas ni dependencia de marca final del cliente.</a:t>
            </a:r>
          </a:p>
        </p:txBody>
      </p:sp>
      <p:sp>
        <p:nvSpPr>
          <p:cNvPr id="13" name="Shape 13"/>
          <p:cNvSpPr/>
          <p:nvPr/>
        </p:nvSpPr>
        <p:spPr>
          <a:xfrm>
            <a:off x="9006840" y="5230368"/>
            <a:ext cx="1828800" cy="411480"/>
          </a:xfrm>
          <a:prstGeom prst="roundRect">
            <a:avLst/>
          </a:prstGeom>
          <a:solidFill>
            <a:srgbClr val="0B5475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9125712" y="5340096"/>
            <a:ext cx="1591056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"/>
            <a:r>
              <a:rPr lang="es-ES" sz="950" b="1">
                <a:solidFill>
                  <a:srgbClr val="FFFFFF"/>
                </a:solidFill>
                <a:latin typeface="Aptos"/>
                <a:cs typeface="Aptos"/>
              </a:rPr>
              <a:t>Version intuitiva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bg>
    <p:bgPr>
      <a:solidFill>
        <a:srgbClr val="F7FDFF"/>
      </a:solidFill>
      <a:effectLst/>
    </p:bgPr>
  </p:bg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Shape 100"/>
          <p:cNvSpPr/>
          <p:nvPr/>
        </p:nvSpPr>
        <p:spPr>
          <a:xfrm>
            <a:off x="-548640" y="640080"/>
            <a:ext cx="4297680" cy="5852160"/>
          </a:xfrm>
          <a:prstGeom prst="roundRect">
            <a:avLst/>
          </a:prstGeom>
          <a:solidFill>
            <a:srgbClr val="DDF6FD"/>
          </a:solidFill>
          <a:ln>
            <a:noFill/>
          </a:ln>
        </p:spPr>
      </p:sp>
      <p:sp>
        <p:nvSpPr>
          <p:cNvPr id="101" name="Shape 101"/>
          <p:cNvSpPr/>
          <p:nvPr/>
        </p:nvSpPr>
        <p:spPr>
          <a:xfrm>
            <a:off x="8229600" y="-182880"/>
            <a:ext cx="4480560" cy="7223760"/>
          </a:xfrm>
          <a:prstGeom prst="roundRect">
            <a:avLst/>
          </a:prstGeom>
          <a:solidFill>
            <a:srgbClr val="D5F4FB"/>
          </a:solidFill>
          <a:ln>
            <a:noFill/>
          </a:ln>
        </p:spPr>
      </p:sp>
      <p:sp>
        <p:nvSpPr>
          <p:cNvPr id="2" name="Shape 2"/>
          <p:cNvSpPr/>
          <p:nvPr/>
        </p:nvSpPr>
        <p:spPr>
          <a:xfrm>
            <a:off x="0" y="0"/>
            <a:ext cx="12192000" cy="329184"/>
          </a:xfrm>
          <a:prstGeom prst="rect">
            <a:avLst/>
          </a:prstGeom>
          <a:solidFill>
            <a:srgbClr val="0B5475"/>
          </a:solidFill>
          <a:ln>
            <a:noFill/>
          </a:ln>
        </p:spPr>
      </p:sp>
      <p:sp>
        <p:nvSpPr>
          <p:cNvPr id="3" name="Shape 3"/>
          <p:cNvSpPr/>
          <p:nvPr/>
        </p:nvSpPr>
        <p:spPr>
          <a:xfrm>
            <a:off x="9464040" y="0"/>
            <a:ext cx="2724912" cy="329184"/>
          </a:xfrm>
          <a:prstGeom prst="rect">
            <a:avLst/>
          </a:prstGeom>
          <a:solidFill>
            <a:srgbClr val="2EC6D8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02920" y="210312"/>
            <a:ext cx="5303520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s-ES" sz="1150" b="1">
                <a:solidFill>
                  <a:srgbClr val="1488B8"/>
                </a:solidFill>
                <a:latin typeface="Aptos"/>
                <a:cs typeface="Aptos"/>
              </a:rPr>
              <a:t>Recorrido de uso propuesto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1119104" y="210312"/>
            <a:ext cx="45720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r"/>
            <a:r>
              <a:rPr lang="es-ES" sz="1050" b="1">
                <a:solidFill>
                  <a:srgbClr val="4E7F99"/>
                </a:solidFill>
                <a:latin typeface="Aptos"/>
                <a:cs typeface="Aptos"/>
              </a:rPr>
              <a:t>12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13232" y="914400"/>
            <a:ext cx="7132320" cy="86868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s-ES" sz="3000" b="1">
                <a:solidFill>
                  <a:srgbClr val="05304A"/>
                </a:solidFill>
                <a:latin typeface="Aptos"/>
                <a:cs typeface="Aptos"/>
              </a:rPr>
              <a:t>Como deberia navegar un usuario en esta V1.</a:t>
            </a:r>
          </a:p>
        </p:txBody>
      </p:sp>
      <p:sp>
        <p:nvSpPr>
          <p:cNvPr id="11" name="Shape 11"/>
          <p:cNvSpPr/>
          <p:nvPr/>
        </p:nvSpPr>
        <p:spPr>
          <a:xfrm>
            <a:off x="960120" y="1965960"/>
            <a:ext cx="566928" cy="566928"/>
          </a:xfrm>
          <a:prstGeom prst="roundRect">
            <a:avLst/>
          </a:prstGeom>
          <a:solidFill>
            <a:srgbClr val="2EC6D8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960120" y="2084832"/>
            <a:ext cx="566928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"/>
            <a:r>
              <a:rPr lang="es-ES" sz="1500" b="1">
                <a:solidFill>
                  <a:srgbClr val="FFFFFF"/>
                </a:solidFill>
                <a:latin typeface="Aptos"/>
                <a:cs typeface="Aptos"/>
              </a:rPr>
              <a:t>1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755648" y="2011680"/>
            <a:ext cx="7955279" cy="402336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s-ES" sz="1650" b="1">
                <a:solidFill>
                  <a:srgbClr val="05304A"/>
                </a:solidFill>
                <a:latin typeface="Aptos"/>
                <a:cs typeface="Aptos"/>
              </a:rPr>
              <a:t>Entiende la propuesta HV en el hero.</a:t>
            </a:r>
          </a:p>
        </p:txBody>
      </p:sp>
      <p:sp>
        <p:nvSpPr>
          <p:cNvPr id="14" name="Shape 14"/>
          <p:cNvSpPr/>
          <p:nvPr/>
        </p:nvSpPr>
        <p:spPr>
          <a:xfrm>
            <a:off x="960120" y="2715768"/>
            <a:ext cx="566928" cy="566928"/>
          </a:xfrm>
          <a:prstGeom prst="roundRect">
            <a:avLst/>
          </a:prstGeom>
          <a:solidFill>
            <a:srgbClr val="2EC6D8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960120" y="2834640"/>
            <a:ext cx="566928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"/>
            <a:r>
              <a:rPr lang="es-ES" sz="1500" b="1">
                <a:solidFill>
                  <a:srgbClr val="FFFFFF"/>
                </a:solidFill>
                <a:latin typeface="Aptos"/>
                <a:cs typeface="Aptos"/>
              </a:rPr>
              <a:t>2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755648" y="2761488"/>
            <a:ext cx="7955279" cy="402336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s-ES" sz="1650" b="1">
                <a:solidFill>
                  <a:srgbClr val="05304A"/>
                </a:solidFill>
                <a:latin typeface="Aptos"/>
                <a:cs typeface="Aptos"/>
              </a:rPr>
              <a:t>Elige aplicacion, fase e interes en Ruta guiada.</a:t>
            </a:r>
          </a:p>
        </p:txBody>
      </p:sp>
      <p:sp>
        <p:nvSpPr>
          <p:cNvPr id="17" name="Shape 17"/>
          <p:cNvSpPr/>
          <p:nvPr/>
        </p:nvSpPr>
        <p:spPr>
          <a:xfrm>
            <a:off x="960120" y="3465576"/>
            <a:ext cx="566928" cy="566928"/>
          </a:xfrm>
          <a:prstGeom prst="roundRect">
            <a:avLst/>
          </a:prstGeom>
          <a:solidFill>
            <a:srgbClr val="2EC6D8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960120" y="3584448"/>
            <a:ext cx="566928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"/>
            <a:r>
              <a:rPr lang="es-ES" sz="1500" b="1">
                <a:solidFill>
                  <a:srgbClr val="FFFFFF"/>
                </a:solidFill>
                <a:latin typeface="Aptos"/>
                <a:cs typeface="Aptos"/>
              </a:rPr>
              <a:t>3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755648" y="3511296"/>
            <a:ext cx="7955279" cy="402336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s-ES" sz="1650" b="1">
                <a:solidFill>
                  <a:srgbClr val="05304A"/>
                </a:solidFill>
                <a:latin typeface="Aptos"/>
                <a:cs typeface="Aptos"/>
              </a:rPr>
              <a:t>Explora aplicaciones y productos sin exceso de texto.</a:t>
            </a:r>
          </a:p>
        </p:txBody>
      </p:sp>
      <p:sp>
        <p:nvSpPr>
          <p:cNvPr id="20" name="Shape 20"/>
          <p:cNvSpPr/>
          <p:nvPr/>
        </p:nvSpPr>
        <p:spPr>
          <a:xfrm>
            <a:off x="960120" y="4215384"/>
            <a:ext cx="566928" cy="566928"/>
          </a:xfrm>
          <a:prstGeom prst="roundRect">
            <a:avLst/>
          </a:prstGeom>
          <a:solidFill>
            <a:srgbClr val="2EC6D8"/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960120" y="4334256"/>
            <a:ext cx="566928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"/>
            <a:r>
              <a:rPr lang="es-ES" sz="1500" b="1">
                <a:solidFill>
                  <a:srgbClr val="FFFFFF"/>
                </a:solidFill>
                <a:latin typeface="Aptos"/>
                <a:cs typeface="Aptos"/>
              </a:rPr>
              <a:t>4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755648" y="4261104"/>
            <a:ext cx="7955279" cy="402336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s-ES" sz="1650" b="1">
                <a:solidFill>
                  <a:srgbClr val="05304A"/>
                </a:solidFill>
                <a:latin typeface="Aptos"/>
                <a:cs typeface="Aptos"/>
              </a:rPr>
              <a:t>Abre detalles solo cuando necesita especificaciones.</a:t>
            </a:r>
          </a:p>
        </p:txBody>
      </p:sp>
      <p:sp>
        <p:nvSpPr>
          <p:cNvPr id="23" name="Shape 23"/>
          <p:cNvSpPr/>
          <p:nvPr/>
        </p:nvSpPr>
        <p:spPr>
          <a:xfrm>
            <a:off x="960120" y="4965192"/>
            <a:ext cx="566928" cy="566928"/>
          </a:xfrm>
          <a:prstGeom prst="roundRect">
            <a:avLst/>
          </a:prstGeom>
          <a:solidFill>
            <a:srgbClr val="2EC6D8"/>
          </a:solidFill>
          <a:ln>
            <a:noFill/>
          </a:ln>
        </p:spPr>
      </p:sp>
      <p:sp>
        <p:nvSpPr>
          <p:cNvPr id="24" name="TextBox 24"/>
          <p:cNvSpPr txBox="1"/>
          <p:nvPr/>
        </p:nvSpPr>
        <p:spPr>
          <a:xfrm>
            <a:off x="960120" y="5084064"/>
            <a:ext cx="566928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"/>
            <a:r>
              <a:rPr lang="es-ES" sz="1500" b="1">
                <a:solidFill>
                  <a:srgbClr val="FFFFFF"/>
                </a:solidFill>
                <a:latin typeface="Aptos"/>
                <a:cs typeface="Aptos"/>
              </a:rPr>
              <a:t>5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755648" y="5010912"/>
            <a:ext cx="7955279" cy="402336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s-ES" sz="1650" b="1">
                <a:solidFill>
                  <a:srgbClr val="05304A"/>
                </a:solidFill>
                <a:latin typeface="Aptos"/>
                <a:cs typeface="Aptos"/>
              </a:rPr>
              <a:t>Envia consulta tecnica ya contextualizada.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bg>
    <p:bgPr>
      <a:solidFill>
        <a:srgbClr val="F7FDFF"/>
      </a:solidFill>
      <a:effectLst/>
    </p:bgPr>
  </p:bg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Shape 100"/>
          <p:cNvSpPr/>
          <p:nvPr/>
        </p:nvSpPr>
        <p:spPr>
          <a:xfrm>
            <a:off x="-548640" y="640080"/>
            <a:ext cx="4297680" cy="5852160"/>
          </a:xfrm>
          <a:prstGeom prst="roundRect">
            <a:avLst/>
          </a:prstGeom>
          <a:solidFill>
            <a:srgbClr val="DDF6FD"/>
          </a:solidFill>
          <a:ln>
            <a:noFill/>
          </a:ln>
        </p:spPr>
      </p:sp>
      <p:sp>
        <p:nvSpPr>
          <p:cNvPr id="101" name="Shape 101"/>
          <p:cNvSpPr/>
          <p:nvPr/>
        </p:nvSpPr>
        <p:spPr>
          <a:xfrm>
            <a:off x="8229600" y="-182880"/>
            <a:ext cx="4480560" cy="7223760"/>
          </a:xfrm>
          <a:prstGeom prst="roundRect">
            <a:avLst/>
          </a:prstGeom>
          <a:solidFill>
            <a:srgbClr val="D5F4FB"/>
          </a:solidFill>
          <a:ln>
            <a:noFill/>
          </a:ln>
        </p:spPr>
      </p:sp>
      <p:sp>
        <p:nvSpPr>
          <p:cNvPr id="2" name="Shape 2"/>
          <p:cNvSpPr/>
          <p:nvPr/>
        </p:nvSpPr>
        <p:spPr>
          <a:xfrm>
            <a:off x="0" y="0"/>
            <a:ext cx="12192000" cy="329184"/>
          </a:xfrm>
          <a:prstGeom prst="rect">
            <a:avLst/>
          </a:prstGeom>
          <a:solidFill>
            <a:srgbClr val="0B5475"/>
          </a:solidFill>
          <a:ln>
            <a:noFill/>
          </a:ln>
        </p:spPr>
      </p:sp>
      <p:sp>
        <p:nvSpPr>
          <p:cNvPr id="3" name="Shape 3"/>
          <p:cNvSpPr/>
          <p:nvPr/>
        </p:nvSpPr>
        <p:spPr>
          <a:xfrm>
            <a:off x="9464040" y="0"/>
            <a:ext cx="2724912" cy="329184"/>
          </a:xfrm>
          <a:prstGeom prst="rect">
            <a:avLst/>
          </a:prstGeom>
          <a:solidFill>
            <a:srgbClr val="2EC6D8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02920" y="210312"/>
            <a:ext cx="5303520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s-ES" sz="1150" b="1">
                <a:solidFill>
                  <a:srgbClr val="1488B8"/>
                </a:solidFill>
                <a:latin typeface="Aptos"/>
                <a:cs typeface="Aptos"/>
              </a:rPr>
              <a:t>Resultado buscado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1119104" y="210312"/>
            <a:ext cx="45720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r"/>
            <a:r>
              <a:rPr lang="es-ES" sz="1050" b="1">
                <a:solidFill>
                  <a:srgbClr val="4E7F99"/>
                </a:solidFill>
                <a:latin typeface="Aptos"/>
                <a:cs typeface="Aptos"/>
              </a:rPr>
              <a:t>13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85800" y="914400"/>
            <a:ext cx="7863840" cy="105156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s-ES" sz="3000" b="1">
                <a:solidFill>
                  <a:srgbClr val="05304A"/>
                </a:solidFill>
                <a:latin typeface="Aptos"/>
                <a:cs typeface="Aptos"/>
              </a:rPr>
              <a:t>Una version intuitiva, presentable y reutilizable para propuesta comercial.</a:t>
            </a:r>
          </a:p>
        </p:txBody>
      </p:sp>
      <p:sp>
        <p:nvSpPr>
          <p:cNvPr id="11" name="Shape 11"/>
          <p:cNvSpPr/>
          <p:nvPr/>
        </p:nvSpPr>
        <p:spPr>
          <a:xfrm>
            <a:off x="713232" y="2148840"/>
            <a:ext cx="109728" cy="3063240"/>
          </a:xfrm>
          <a:prstGeom prst="rect">
            <a:avLst/>
          </a:prstGeom>
          <a:solidFill>
            <a:srgbClr val="2EC6D8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1005840" y="2057400"/>
            <a:ext cx="9509760" cy="347472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lnSpc>
                <a:spcPct val="115000"/>
              </a:lnSpc>
            </a:pPr>
            <a:r>
              <a:rPr lang="es-ES" sz="1680">
                <a:solidFill>
                  <a:srgbClr val="05304A"/>
                </a:solidFill>
                <a:latin typeface="Aptos"/>
                <a:cs typeface="Aptos"/>
              </a:rPr>
              <a:t>? Reconocible por contenido y enfoque, pero con una experiencia mas directa.</a:t>
            </a:r>
          </a:p>
          <a:p>
            <a:pPr algn="l">
              <a:lnSpc>
                <a:spcPct val="115000"/>
              </a:lnSpc>
            </a:pPr>
            <a:r>
              <a:rPr lang="es-ES" sz="1680">
                <a:solidFill>
                  <a:srgbClr val="05304A"/>
                </a:solidFill>
                <a:latin typeface="Aptos"/>
                <a:cs typeface="Aptos"/>
              </a:rPr>
              <a:t>? Preparada para ense?ar como alternativa de mejora, no como copia cerrada.</a:t>
            </a:r>
          </a:p>
          <a:p>
            <a:pPr algn="l">
              <a:lnSpc>
                <a:spcPct val="115000"/>
              </a:lnSpc>
            </a:pPr>
            <a:r>
              <a:rPr lang="es-ES" sz="1680">
                <a:solidFill>
                  <a:srgbClr val="05304A"/>
                </a:solidFill>
                <a:latin typeface="Aptos"/>
                <a:cs typeface="Aptos"/>
              </a:rPr>
              <a:t>? Marca generica para poder reutilizar la base si la propuesta no avanza.</a:t>
            </a:r>
          </a:p>
          <a:p>
            <a:pPr algn="l">
              <a:lnSpc>
                <a:spcPct val="115000"/>
              </a:lnSpc>
            </a:pPr>
            <a:r>
              <a:rPr lang="es-ES" sz="1680">
                <a:solidFill>
                  <a:srgbClr val="05304A"/>
                </a:solidFill>
                <a:latin typeface="Aptos"/>
                <a:cs typeface="Aptos"/>
              </a:rPr>
              <a:t>? Siguiente paso: generar titulo y descripcion de commit, y publicar cuando se de visto bueno.</a:t>
            </a:r>
          </a:p>
        </p:txBody>
      </p:sp>
      <p:sp>
        <p:nvSpPr>
          <p:cNvPr id="13" name="Shape 13"/>
          <p:cNvSpPr/>
          <p:nvPr/>
        </p:nvSpPr>
        <p:spPr>
          <a:xfrm>
            <a:off x="9006840" y="5230368"/>
            <a:ext cx="1828800" cy="411480"/>
          </a:xfrm>
          <a:prstGeom prst="roundRect">
            <a:avLst/>
          </a:prstGeom>
          <a:solidFill>
            <a:srgbClr val="0B5475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9125712" y="5340096"/>
            <a:ext cx="1591056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"/>
            <a:r>
              <a:rPr lang="es-ES" sz="950" b="1">
                <a:solidFill>
                  <a:srgbClr val="FFFFFF"/>
                </a:solidFill>
                <a:latin typeface="Aptos"/>
                <a:cs typeface="Aptos"/>
              </a:rPr>
              <a:t>Version intuitiva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royectoCliente1">
  <a:themeElements>
    <a:clrScheme name="ProyectoCliente1">
      <a:dk1>
        <a:srgbClr val="05304A"/>
      </a:dk1>
      <a:lt1>
        <a:srgbClr val="FFFFFF"/>
      </a:lt1>
      <a:dk2>
        <a:srgbClr val="0B5475"/>
      </a:dk2>
      <a:lt2>
        <a:srgbClr val="EAF9FE"/>
      </a:lt2>
      <a:accent1>
        <a:srgbClr val="1488B8"/>
      </a:accent1>
      <a:accent2>
        <a:srgbClr val="2EC6D8"/>
      </a:accent2>
      <a:accent3>
        <a:srgbClr val="6CBF65"/>
      </a:accent3>
      <a:accent4>
        <a:srgbClr val="D39A2E"/>
      </a:accent4>
      <a:accent5>
        <a:srgbClr val="4E7F99"/>
      </a:accent5>
      <a:accent6>
        <a:srgbClr val="BCE8F4"/>
      </a:accent6>
      <a:hlink>
        <a:srgbClr val="1488B8"/>
      </a:hlink>
      <a:folHlink>
        <a:srgbClr val="0B5475"/>
      </a:folHlink>
    </a:clrScheme>
    <a:fontScheme name="Aptos">
      <a:majorFont>
        <a:latin typeface="Aptos Display"/>
        <a:ea typeface=""/>
        <a:cs typeface=""/>
      </a:majorFont>
      <a:minorFont>
        <a:latin typeface="Aptos"/>
        <a:ea typeface=""/>
        <a:cs typeface=""/>
      </a:minorFont>
    </a:fontScheme>
    <a:fmtScheme name="Office">
      <a:fillStyleLst>
        <a:solidFill>
          <a:schemeClr val="phClr"/>
        </a:solidFill>
      </a:fillStyleLst>
      <a:lnStyleLst>
        <a:ln w="6350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PowerPoint</Application>
  <PresentationFormat>On-screen Show (16:9)</PresentationFormat>
  <Slides>13</Slides>
  <Notes>0</Notes>
  <HiddenSlides>0</HiddenSlides>
  <MMClips>0</MMClips>
  <ScaleCrop>false</ScaleCrop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ProyectoCliente1 Version 1 Intuitiva</dc:title>
  <dc:subject>Presentacion de propuesta web</dc:subject>
  <dc:creator>Equipo de desarrollo</dc:creator>
  <cp:lastModifiedBy>Equipo de desarrollo</cp:lastModifiedBy>
  <dcterms:created xsi:type="dcterms:W3CDTF">2026-06-22T15:42:07Z</dcterms:created>
  <dcterms:modified xsi:type="dcterms:W3CDTF">2026-06-22T15:42:07Z</dcterms:modified>
</cp:coreProperties>
</file>